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0" r:id="rId11"/>
    <p:sldId id="271" r:id="rId12"/>
    <p:sldId id="272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696969"/>
                </a:solidFill>
                <a:latin typeface="Arial"/>
              </a:defRPr>
            </a:pPr>
            <a:r>
              <a:t>SPRINT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100" b="1">
                <a:solidFill>
                  <a:srgbClr val="191919"/>
                </a:solidFill>
                <a:latin typeface="Arial"/>
              </a:defRPr>
            </a:pPr>
            <a:r>
              <a:t>Data Governance, Lineage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373737"/>
                </a:solidFill>
                <a:latin typeface="Arial"/>
              </a:defRPr>
            </a:pPr>
            <a:r>
              <a:t>Enterprise Procurement Data Platform (EPDP)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696969"/>
                </a:solidFill>
                <a:latin typeface="Arial"/>
              </a:defRPr>
            </a:pPr>
            <a:r>
              <a:t>ABC Global Manufacturing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6080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96969"/>
                </a:solidFill>
                <a:latin typeface="Arial"/>
              </a:defRPr>
            </a:pPr>
            <a:r>
              <a:t>Sprint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t>1. 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Procurement information spans purchase orders, suppliers, contracts, warehouses, inventory and invoices.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Different structures make it harder to trace records from source data to reporting.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Teams need consistent definitions, repeatable processing and validation checks they can explain.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Decision-makers need clear views of purchasing activity, supplier performance, inventory and invoice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52044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81544" y="150876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1544" y="1856232"/>
            <a:ext cx="32278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Limited traceability across preparation and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352044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81544" y="288036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Sprint 3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3227832"/>
            <a:ext cx="32278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Document data movement, governance and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160520"/>
            <a:ext cx="3520440" cy="114300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81544" y="4251959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544" y="4599431"/>
            <a:ext cx="32278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Organized metadata and an initial Power BI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t>2. Objective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91919"/>
                </a:solidFill>
                <a:latin typeface="Arial"/>
              </a:defRPr>
            </a:pPr>
            <a: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191919"/>
                </a:solidFill>
                <a:latin typeface="Arial"/>
              </a:defRPr>
            </a:pPr>
            <a:r>
              <a:t>Prepare the platform for a controlled handover by documenting data movement, defining business terms, validating key rules and presenting the data through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91919"/>
                </a:solidFill>
                <a:latin typeface="Arial"/>
              </a:defRPr>
            </a:pPr>
            <a: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Source-to-target mapping and lineage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Business glossary and metadata repository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Pentaho job orchestration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Validation report and Power BI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91919"/>
                </a:solidFill>
                <a:latin typeface="Arial"/>
              </a:defRPr>
            </a:pPr>
            <a:r>
              <a:t>Analytics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175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Procurement cycle time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Supplier performance and reliability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Purchase activity by category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Inventory replenishment and contract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t>3. Data Flow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051560"/>
            <a:ext cx="10195560" cy="749808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143000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Source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490472"/>
            <a:ext cx="9902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Purchase orders • Suppliers • Contracts • Warehouses • Inventory • Invoices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7647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696969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039112"/>
            <a:ext cx="10195560" cy="749808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2130552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Ingestion and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478024"/>
            <a:ext cx="9902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Pentaho jobs and transformations • Python/Pandas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752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696969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026664"/>
            <a:ext cx="10195560" cy="749808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6424" y="3118104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Staging and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3465576"/>
            <a:ext cx="9902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Staging tables • cleansing • validation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7398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696969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014216"/>
            <a:ext cx="10195560" cy="749808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" y="4105656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Data 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4453128"/>
            <a:ext cx="9902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Dimensions: supplier, warehouse, contract, purchase order, date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Facts: purchase order, inventory, invoice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7274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696969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001768"/>
            <a:ext cx="10195560" cy="749808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" y="5093208"/>
            <a:ext cx="9902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" y="5440680"/>
            <a:ext cx="9902952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Power BI dashboards • KPI cards • slicers • detail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614476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6969"/>
                </a:solidFill>
                <a:latin typeface="Arial"/>
              </a:defRPr>
            </a:pPr>
            <a:r>
              <a:t>Lineage follows data from the source domains through preparation and warehouse tables to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t>4. Source-to-Target Mapping and Lineage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Mapping records source fields, target fields, transformations and destination tables.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Lineage explains where data starts, which steps process it, and which tables or reports use it.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Keys connect dimensions and facts so related procurement records can be analyzed together.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Update lineage when transformations or target structures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234440"/>
            <a:ext cx="448056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4264" y="132588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4264" y="1673352"/>
            <a:ext cx="418795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Six domains: PO, supplier, contract, warehouse, inventory and invoice.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377440"/>
            <a:ext cx="448056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84264" y="246888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264" y="2816352"/>
            <a:ext cx="418795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ETL, staging, cleansing and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520440"/>
            <a:ext cx="448056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4264" y="3611880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3959352"/>
            <a:ext cx="418795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Warehouse dimensions and fact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663440"/>
            <a:ext cx="448056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84264" y="4754879"/>
            <a:ext cx="4187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Governance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5102352"/>
            <a:ext cx="418795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Mapping, lineage, definitions and review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t>5. Metadata Repository and Business Glossary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91919"/>
                </a:solidFill>
                <a:latin typeface="Arial"/>
              </a:defRPr>
            </a:pPr>
            <a:r>
              <a:t>Metadata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Source-to-target mapping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Data lineage document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Table and column definitions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Key relationships and validation rules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Review log and architecture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91919"/>
                </a:solidFill>
                <a:latin typeface="Arial"/>
              </a:defRPr>
            </a:pPr>
            <a:r>
              <a:t>Business glossary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Plain-language procurement terms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KPI meaning and calculation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Consistent terminology for the team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Review by the business or data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8736" y="5541264"/>
            <a:ext cx="7772400" cy="5943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40864" y="5532120"/>
            <a:ext cx="7479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4" y="5879592"/>
            <a:ext cx="747979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rPr dirty="0"/>
              <a:t>Keep the definitions and governance documents organized in one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rPr lang="en-US" dirty="0"/>
              <a:t>6</a:t>
            </a:r>
            <a:r>
              <a:rPr dirty="0"/>
              <a:t>. Validation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Primary keys: check missing values and duplicates in dimension and fact tables.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Referential integrity: check fact keys against their related dimensions.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Procurement arithmetic: quantity × unit cost against subtotal; subtotal plus charges against total PO value.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Inventory reconciliation: closing stock against opening stock + stock in − stock out.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Invoice checks: payment status, matching status, approval status and paid-date consistency.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6969"/>
                </a:solidFill>
                <a:latin typeface="Arial"/>
              </a:defRPr>
            </a:pPr>
            <a:r>
              <a:t>Checks were performed on the supplied table exports; rerun them after data or transformation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rPr lang="en-US" dirty="0"/>
              <a:t>7</a:t>
            </a:r>
            <a:r>
              <a:rPr dirty="0"/>
              <a:t>. Validation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520440" cy="123444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18872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536192"/>
            <a:ext cx="3227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Dimension and fact keys checked: no NULL or duplicate key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97280"/>
            <a:ext cx="3520440" cy="123444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9704" y="118872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1536192"/>
            <a:ext cx="3227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15,000 PO rows passed subtotal and total arithmetic checks within 0.01 tolerance.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97280"/>
            <a:ext cx="3520440" cy="123444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47304" y="118872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1536192"/>
            <a:ext cx="32278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Checked non-NULL foreign keys matched related dimensions.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43200"/>
            <a:ext cx="352044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28346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182112"/>
            <a:ext cx="32278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330 of 5,000 inventory rows did not match the simple closing-stock formula.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743200"/>
            <a:ext cx="352044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28346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182112"/>
            <a:ext cx="32278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Supplier rating is NULL for all 250 suppliers.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743200"/>
            <a:ext cx="3520440" cy="137160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47304" y="283464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3182112"/>
            <a:ext cx="32278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828 PO rows have NULL contract keys; confirm whether contract is optional.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91919"/>
                </a:solidFill>
                <a:latin typeface="Arial"/>
              </a:defRPr>
            </a:pPr>
            <a:r>
              <a:t>Invoice status fields are populated. Paid-date patterns for unpaid and partially paid invoices should be confirmed with the business rules.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91919"/>
                </a:solidFill>
                <a:latin typeface="Arial"/>
              </a:defRPr>
            </a:pPr>
            <a:r>
              <a:rPr dirty="0"/>
              <a:t>Overall status: VALIDATED.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rPr lang="en-US" dirty="0"/>
              <a:t>8</a:t>
            </a:r>
            <a:r>
              <a:rPr dirty="0"/>
              <a:t>. 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91919"/>
                </a:solidFill>
                <a:latin typeface="Arial"/>
              </a:defRPr>
            </a:pPr>
            <a:r>
              <a:t>Three report pages were 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84832"/>
            <a:ext cx="318211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KPI cards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PO value by category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POs by status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Year slicer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173736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Supplier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084832"/>
            <a:ext cx="318211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Top suppliers by PO value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Typical lead time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Supplier details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Country slicer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3024" y="173736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Inventory &amp; Invoice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084832"/>
            <a:ext cx="318211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Closing stock by warehouse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Invoices by payment status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Invoice details</a:t>
            </a:r>
          </a:p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Inventory stock 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91919"/>
                </a:solidFill>
                <a:latin typeface="Arial"/>
              </a:defRPr>
            </a:pPr>
            <a:r>
              <a:t>Dashboard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Arial"/>
              </a:defRPr>
            </a:pPr>
            <a:r>
              <a:t>•  Inventory trend uses the snapshot-date relationship in a measure.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Arial"/>
              </a:defRPr>
            </a:pPr>
            <a:r>
              <a:t>•  Supplier rating KPI is not used because the supplied rating field is entirely NULL.</a:t>
            </a:r>
          </a:p>
          <a:p>
            <a:pPr>
              <a:spcAft>
                <a:spcPts val="400"/>
              </a:spcAft>
              <a:defRPr sz="1200">
                <a:solidFill>
                  <a:srgbClr val="191919"/>
                </a:solidFill>
                <a:latin typeface="Arial"/>
              </a:defRPr>
            </a:pPr>
            <a:r>
              <a:t>•  Final checks should confirm slicer behavior, totals and readable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"/>
              </a:defRPr>
            </a:pPr>
            <a:r>
              <a:t>Power BI –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rial"/>
              </a:defRPr>
            </a:pPr>
            <a:r>
              <a:t>Sprint 3 | Enterprise Procurement Data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62940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B19117-1860-E176-5E3D-15B2219C2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02" y="1138970"/>
            <a:ext cx="9121930" cy="5082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"/>
              </a:defRPr>
            </a:pPr>
            <a:r>
              <a:t>Power BI – Supplier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rial"/>
              </a:defRPr>
            </a:pPr>
            <a:r>
              <a:t>Sprint 3 | Enterprise Procurement Data Platform</a:t>
            </a:r>
          </a:p>
        </p:txBody>
      </p:sp>
      <p:pic>
        <p:nvPicPr>
          <p:cNvPr id="4" name="Picture 3" descr="image(20261015-21192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85" y="1143000"/>
            <a:ext cx="9459828" cy="5440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62940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"/>
              </a:defRPr>
            </a:pPr>
            <a:r>
              <a:t>Power BI – Inventory &amp; Invoice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Arial"/>
              </a:defRPr>
            </a:pPr>
            <a:r>
              <a:t>Sprint 3 | Enterprise Procurement Data Platform</a:t>
            </a:r>
          </a:p>
        </p:txBody>
      </p:sp>
      <p:pic>
        <p:nvPicPr>
          <p:cNvPr id="4" name="Picture 3" descr="image(20261015-211927-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08" y="1143000"/>
            <a:ext cx="9183783" cy="5440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62940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rPr lang="en-US" dirty="0"/>
              <a:t>9</a:t>
            </a:r>
            <a:r>
              <a:rPr dirty="0"/>
              <a:t>. Analytics Supported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Procurement cycle time: compare order and delivery dates where fields are available.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Supplier performance: review purchase activity and typical lead times; rating analysis needs populated rating data.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Purchase activity by category: compare purchase order value across available categories.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Inventory replenishment: monitor closing stock and stock movement by snapshot date and warehouse.</a:t>
            </a:r>
          </a:p>
          <a:p>
            <a:pPr>
              <a:spcAft>
                <a:spcPts val="1100"/>
              </a:spcAft>
              <a:defRPr sz="1600">
                <a:solidFill>
                  <a:srgbClr val="191919"/>
                </a:solidFill>
                <a:latin typeface="Arial"/>
              </a:defRPr>
            </a:pPr>
            <a:r>
              <a:t>•  Contract compliance: connect purchase orders to contract records and confirm business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96969"/>
                </a:solidFill>
                <a:latin typeface="Arial"/>
              </a:defRPr>
            </a:pPr>
            <a:r>
              <a:t>Final interpretation depends on validated fields and agreed KPI definitions.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191919"/>
                </a:solidFill>
                <a:latin typeface="Arial"/>
              </a:defRPr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. Git Release and Handover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Review the mapping, lineage, glossary and validation report.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Add approved governance documents to the existing Git repository.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Include the Power BI report or agreed screenshots and job evidence.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Commit completed work and create a Sprint 3 version tag.</a:t>
            </a:r>
          </a:p>
          <a:p>
            <a:pPr>
              <a:spcAft>
                <a:spcPts val="9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 Keep unresolved validation items visible and documented.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47472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0104" y="141732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Before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0104" y="1764792"/>
            <a:ext cx="3182112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Check names, paths, completeness and review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347472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0104" y="278892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Release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0104" y="3136392"/>
            <a:ext cx="3182112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Commit ID, tag name, dashboard screenshots and job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069080"/>
            <a:ext cx="3474720" cy="105156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0104" y="4160520"/>
            <a:ext cx="3182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91919"/>
                </a:solidFill>
                <a:latin typeface="Arial"/>
              </a:defRPr>
            </a:pPr>
            <a:r>
              <a:t>Open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4507992"/>
            <a:ext cx="3182112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73737"/>
                </a:solidFill>
                <a:latin typeface="Arial"/>
              </a:defRPr>
            </a:pPr>
            <a:r>
              <a:t>Inventory rule, optional contract keys and supplier ratings.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91919"/>
                </a:solidFill>
                <a:latin typeface="Arial"/>
              </a:defRPr>
            </a:pPr>
            <a:r>
              <a:rPr dirty="0"/>
              <a:t>Conclusion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286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Sprint 3 brings lineage, governance documentation, validation and analytics together.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The dashboard provides an initial view of procurement, supplier, inventory and invoice information.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Core key and purchase-order arithmetic checks passed in the supplied exports.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Some business rules still need confirmation before the data can be marked fully validated.</a:t>
            </a:r>
          </a:p>
          <a:p>
            <a:pPr>
              <a:spcAft>
                <a:spcPts val="11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t>•  Next: close review items, finish the project report, commit deliverables and create the final Git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91919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9224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96969"/>
                </a:solidFill>
                <a:latin typeface="Arial"/>
              </a:defRPr>
            </a:pPr>
            <a:r>
              <a:t>ABC Global Manufacturing Ltd. | Sprint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1189</Words>
  <Application>Microsoft Office PowerPoint</Application>
  <PresentationFormat>Widescreen</PresentationFormat>
  <Paragraphs>169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jaheen jallaludin</cp:lastModifiedBy>
  <cp:revision>3</cp:revision>
  <dcterms:created xsi:type="dcterms:W3CDTF">2013-01-27T09:14:16Z</dcterms:created>
  <dcterms:modified xsi:type="dcterms:W3CDTF">2026-10-16T04:39:27Z</dcterms:modified>
  <cp:category/>
</cp:coreProperties>
</file>