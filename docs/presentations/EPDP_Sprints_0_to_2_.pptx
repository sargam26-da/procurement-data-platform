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229600" y="2194560"/>
            <a:ext cx="3291841" cy="2011680"/>
          </a:xfrm>
          <a:prstGeom prst="roundRect">
            <a:avLst>
              <a:gd name="adj" fmla="val 6818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8229599" y="2822599"/>
            <a:ext cx="3291842" cy="7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SPRINTS</a:t>
            </a:r>
          </a:p>
          <a:p>
            <a:pPr algn="ctr">
              <a:defRPr b="1" sz="3400">
                <a:solidFill>
                  <a:srgbClr val="FFFFFF"/>
                </a:solidFill>
              </a:defRPr>
            </a:pPr>
            <a:r>
              <a:t>0  ·  1  ·  2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19" y="7902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7FD6D2"/>
                </a:solidFill>
              </a:defRPr>
            </a:lvl1pPr>
          </a:lstStyle>
          <a:p>
            <a:pPr/>
            <a:r>
              <a:t>UC13  ·  ENTERPRISE DATA ENGINEERING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31519" y="1463039"/>
            <a:ext cx="6949442" cy="113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ENTERPRISE PROCUREMENT DATA PLATFORM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731519" y="3278485"/>
            <a:ext cx="694944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DCE6F2"/>
                </a:solidFill>
              </a:defRPr>
            </a:lvl1pPr>
          </a:lstStyle>
          <a:p>
            <a:pPr/>
            <a:r>
              <a:t>Combined Sprint Review: Sprints 0–2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731519" y="3873063"/>
            <a:ext cx="69494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A9B8CC"/>
                </a:solidFill>
              </a:defRPr>
            </a:lvl1pPr>
          </a:lstStyle>
          <a:p>
            <a:pPr/>
            <a:r>
              <a:t>Project Initiation  •  Data Ingestion  •  Data Quality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731519" y="4908376"/>
            <a:ext cx="69494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7FD6D2"/>
                </a:solidFill>
              </a:defRPr>
            </a:lvl1pPr>
          </a:lstStyle>
          <a:p>
            <a:pPr/>
            <a:r>
              <a:t>ABC Global Manufacturing Ltd.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Three sprints, one delivery path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548639" y="144990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E6B7A"/>
                </a:solidFill>
              </a:defRPr>
            </a:lvl1pPr>
          </a:lstStyle>
          <a:p>
            <a:pPr/>
            <a:r>
              <a:t>The project progresses from defining the platform to landing data and improving data quality.</a:t>
            </a:r>
          </a:p>
        </p:txBody>
      </p:sp>
      <p:sp>
        <p:nvSpPr>
          <p:cNvPr id="33" name="Shape 5"/>
          <p:cNvSpPr/>
          <p:nvPr/>
        </p:nvSpPr>
        <p:spPr>
          <a:xfrm>
            <a:off x="548640" y="2011679"/>
            <a:ext cx="3566160" cy="2468881"/>
          </a:xfrm>
          <a:prstGeom prst="roundRect">
            <a:avLst>
              <a:gd name="adj" fmla="val 370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6"/>
          <p:cNvSpPr txBox="1"/>
          <p:nvPr/>
        </p:nvSpPr>
        <p:spPr>
          <a:xfrm>
            <a:off x="777239" y="2237040"/>
            <a:ext cx="3108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SPRINT 0  |  DEFINE</a:t>
            </a:r>
          </a:p>
        </p:txBody>
      </p:sp>
      <p:sp>
        <p:nvSpPr>
          <p:cNvPr id="35" name="Text 7"/>
          <p:cNvSpPr txBox="1"/>
          <p:nvPr/>
        </p:nvSpPr>
        <p:spPr>
          <a:xfrm>
            <a:off x="777239" y="2606039"/>
            <a:ext cx="3108962" cy="7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Business problem and scope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Stakeholders and lifecycle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Architecture and repository plan</a:t>
            </a:r>
          </a:p>
        </p:txBody>
      </p:sp>
      <p:sp>
        <p:nvSpPr>
          <p:cNvPr id="36" name="Shape 8"/>
          <p:cNvSpPr/>
          <p:nvPr/>
        </p:nvSpPr>
        <p:spPr>
          <a:xfrm>
            <a:off x="4311396" y="2011679"/>
            <a:ext cx="3566160" cy="2468881"/>
          </a:xfrm>
          <a:prstGeom prst="roundRect">
            <a:avLst>
              <a:gd name="adj" fmla="val 370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9"/>
          <p:cNvSpPr txBox="1"/>
          <p:nvPr/>
        </p:nvSpPr>
        <p:spPr>
          <a:xfrm>
            <a:off x="4539996" y="223704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SPRINT 1  |  INGEST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4539996" y="2606039"/>
            <a:ext cx="3108961" cy="7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Source discovery and data dictionary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Pentaho multi-format ingestion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PostgreSQL staging foundation</a:t>
            </a:r>
          </a:p>
        </p:txBody>
      </p:sp>
      <p:sp>
        <p:nvSpPr>
          <p:cNvPr id="39" name="Shape 11"/>
          <p:cNvSpPr/>
          <p:nvPr/>
        </p:nvSpPr>
        <p:spPr>
          <a:xfrm>
            <a:off x="8074152" y="2011679"/>
            <a:ext cx="3566160" cy="2468881"/>
          </a:xfrm>
          <a:prstGeom prst="roundRect">
            <a:avLst>
              <a:gd name="adj" fmla="val 370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8302752" y="223704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SPRINT 2  |  QUALITY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8302752" y="2606039"/>
            <a:ext cx="3108961" cy="7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Profile and cleanse six datasets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Validate relationships and inventory rules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Document findings and exceptions</a:t>
            </a:r>
          </a:p>
        </p:txBody>
      </p:sp>
      <p:sp>
        <p:nvSpPr>
          <p:cNvPr id="42" name="Shape 14"/>
          <p:cNvSpPr/>
          <p:nvPr/>
        </p:nvSpPr>
        <p:spPr>
          <a:xfrm>
            <a:off x="548640" y="4846320"/>
            <a:ext cx="11091672" cy="640081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5"/>
          <p:cNvSpPr txBox="1"/>
          <p:nvPr/>
        </p:nvSpPr>
        <p:spPr>
          <a:xfrm>
            <a:off x="777239" y="5073082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Delivery principle: make data traceable first, then make it consistent and trustworthy.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INITIATION</a:t>
            </a:r>
          </a:p>
        </p:txBody>
      </p:sp>
      <p:sp>
        <p:nvSpPr>
          <p:cNvPr id="46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Business background and problem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48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9" name="Shape 4"/>
          <p:cNvSpPr/>
          <p:nvPr/>
        </p:nvSpPr>
        <p:spPr>
          <a:xfrm>
            <a:off x="548640" y="137160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BUSINESS CONTEXT</a:t>
            </a:r>
          </a:p>
        </p:txBody>
      </p:sp>
      <p:sp>
        <p:nvSpPr>
          <p:cNvPr id="51" name="Text 6"/>
          <p:cNvSpPr txBox="1"/>
          <p:nvPr/>
        </p:nvSpPr>
        <p:spPr>
          <a:xfrm>
            <a:off x="777240" y="1965959"/>
            <a:ext cx="4983480" cy="928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Global sourcing across domestic and international suppliers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Multiple systems cover procurement, ERP, vendors, warehouses, contracts and accounts payable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Procurement lifecycle data is distributed across independent sources</a:t>
            </a:r>
          </a:p>
        </p:txBody>
      </p:sp>
      <p:sp>
        <p:nvSpPr>
          <p:cNvPr id="52" name="Shape 7"/>
          <p:cNvSpPr/>
          <p:nvPr/>
        </p:nvSpPr>
        <p:spPr>
          <a:xfrm>
            <a:off x="6199632" y="137160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A83B3B"/>
                </a:solidFill>
              </a:defRPr>
            </a:lvl1pPr>
          </a:lstStyle>
          <a:p>
            <a:pPr/>
            <a:r>
              <a:t>CORE PROBLEMS</a:t>
            </a:r>
          </a:p>
        </p:txBody>
      </p:sp>
      <p:sp>
        <p:nvSpPr>
          <p:cNvPr id="54" name="Text 9"/>
          <p:cNvSpPr txBox="1"/>
          <p:nvPr/>
        </p:nvSpPr>
        <p:spPr>
          <a:xfrm>
            <a:off x="6428232" y="1965959"/>
            <a:ext cx="4983481" cy="1004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Supplier records can be duplicated or inconsistent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Purchase orders, receipts and invoices are difficult to connect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Supplier performance and contract compliance are hard to monitor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Fragmented data limits timely decisions</a:t>
            </a:r>
          </a:p>
        </p:txBody>
      </p:sp>
      <p:sp>
        <p:nvSpPr>
          <p:cNvPr id="55" name="Shape 10"/>
          <p:cNvSpPr/>
          <p:nvPr/>
        </p:nvSpPr>
        <p:spPr>
          <a:xfrm>
            <a:off x="548640" y="4937759"/>
            <a:ext cx="11091672" cy="914401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1"/>
          <p:cNvSpPr txBox="1"/>
          <p:nvPr/>
        </p:nvSpPr>
        <p:spPr>
          <a:xfrm>
            <a:off x="777239" y="5187381"/>
            <a:ext cx="10607042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Business need: a unified, governed procurement data platform that consolidates heterogeneous data for reliable operational and executive analytics.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INITIATION</a:t>
            </a:r>
          </a:p>
        </p:txBody>
      </p:sp>
      <p:sp>
        <p:nvSpPr>
          <p:cNvPr id="59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Project objectives and boundaries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61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2" name="Shape 4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64" name="Text 6"/>
          <p:cNvSpPr txBox="1"/>
          <p:nvPr/>
        </p:nvSpPr>
        <p:spPr>
          <a:xfrm>
            <a:off x="777240" y="1965959"/>
            <a:ext cx="4983480" cy="1563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Collect data from heterogeneous enterprise sources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Clean, validate and standardize procurement and supplier records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Store curated data in a PostgreSQL data warehouse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Maintain metadata, audit logs and data lineage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Enable procurement, supplier, inventory and executive analytics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Collaborate through Git/GitHub and structured documentation</a:t>
            </a:r>
          </a:p>
        </p:txBody>
      </p:sp>
      <p:sp>
        <p:nvSpPr>
          <p:cNvPr id="65" name="Shape 7"/>
          <p:cNvSpPr/>
          <p:nvPr/>
        </p:nvSpPr>
        <p:spPr>
          <a:xfrm>
            <a:off x="6199632" y="13716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67" name="Text 9"/>
          <p:cNvSpPr txBox="1"/>
          <p:nvPr/>
        </p:nvSpPr>
        <p:spPr>
          <a:xfrm>
            <a:off x="6428232" y="1965959"/>
            <a:ext cx="4983481" cy="1614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In scope: procurement, suppliers, products, contracts, purchase orders, inventory, warehouses, invoices and supplier performance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In scope: ingestion, staging, profiling, quality checks, warehouse modelling, lineage, dashboards, testing and documentation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Prototype boundary: representative datasets demonstrate the design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Out of scope: direct connection to live production systems and real enterprise transactions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INITIATION</a:t>
            </a:r>
          </a:p>
        </p:txBody>
      </p:sp>
      <p:sp>
        <p:nvSpPr>
          <p:cNvPr id="70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Stakeholders and procurement lifecycle</a:t>
            </a:r>
          </a:p>
        </p:txBody>
      </p:sp>
      <p:sp>
        <p:nvSpPr>
          <p:cNvPr id="71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72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05</a:t>
            </a:r>
          </a:p>
        </p:txBody>
      </p:sp>
      <p:graphicFrame>
        <p:nvGraphicFramePr>
          <p:cNvPr id="73" name="Table 0"/>
          <p:cNvGraphicFramePr/>
          <p:nvPr/>
        </p:nvGraphicFramePr>
        <p:xfrm>
          <a:off x="548640" y="1325880"/>
          <a:ext cx="11091672" cy="268833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26080"/>
                <a:gridCol w="8165592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Primary information need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Procurement team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Purchase orders, cycle time and supplier analysis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 management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Ratings, delivery reliability, quality and compliance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Warehouse / inventory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Stock levels, replenishment and warehouse visibility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Accounts Payable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Invoice and payment status, outstanding and overdue items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Executives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Trusted KPIs and consolidated reporting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Data / IT team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Reliable pipelines, governance, lineage and support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74" name="Shape 4"/>
          <p:cNvSpPr/>
          <p:nvPr/>
        </p:nvSpPr>
        <p:spPr>
          <a:xfrm>
            <a:off x="1188719" y="4846320"/>
            <a:ext cx="9875521" cy="1"/>
          </a:xfrm>
          <a:prstGeom prst="line">
            <a:avLst/>
          </a:prstGeom>
          <a:ln w="25400">
            <a:solidFill>
              <a:srgbClr val="5E6B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5"/>
          <p:cNvSpPr/>
          <p:nvPr/>
        </p:nvSpPr>
        <p:spPr>
          <a:xfrm>
            <a:off x="548640" y="4480559"/>
            <a:ext cx="1417320" cy="731521"/>
          </a:xfrm>
          <a:prstGeom prst="roundRect">
            <a:avLst>
              <a:gd name="adj" fmla="val 10000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6"/>
          <p:cNvSpPr txBox="1"/>
          <p:nvPr/>
        </p:nvSpPr>
        <p:spPr>
          <a:xfrm>
            <a:off x="548640" y="4767887"/>
            <a:ext cx="141732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Requirement</a:t>
            </a:r>
          </a:p>
        </p:txBody>
      </p:sp>
      <p:sp>
        <p:nvSpPr>
          <p:cNvPr id="77" name="Shape 7"/>
          <p:cNvSpPr/>
          <p:nvPr/>
        </p:nvSpPr>
        <p:spPr>
          <a:xfrm>
            <a:off x="2139695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8"/>
          <p:cNvSpPr txBox="1"/>
          <p:nvPr/>
        </p:nvSpPr>
        <p:spPr>
          <a:xfrm>
            <a:off x="2139695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Requisition</a:t>
            </a:r>
          </a:p>
        </p:txBody>
      </p:sp>
      <p:sp>
        <p:nvSpPr>
          <p:cNvPr id="79" name="Shape 9"/>
          <p:cNvSpPr/>
          <p:nvPr/>
        </p:nvSpPr>
        <p:spPr>
          <a:xfrm>
            <a:off x="3730752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0"/>
          <p:cNvSpPr txBox="1"/>
          <p:nvPr/>
        </p:nvSpPr>
        <p:spPr>
          <a:xfrm>
            <a:off x="3730752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Approval</a:t>
            </a:r>
          </a:p>
        </p:txBody>
      </p:sp>
      <p:sp>
        <p:nvSpPr>
          <p:cNvPr id="81" name="Shape 11"/>
          <p:cNvSpPr/>
          <p:nvPr/>
        </p:nvSpPr>
        <p:spPr>
          <a:xfrm>
            <a:off x="5321808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2"/>
          <p:cNvSpPr txBox="1"/>
          <p:nvPr/>
        </p:nvSpPr>
        <p:spPr>
          <a:xfrm>
            <a:off x="5321808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Supplier / Contract</a:t>
            </a:r>
          </a:p>
        </p:txBody>
      </p:sp>
      <p:sp>
        <p:nvSpPr>
          <p:cNvPr id="83" name="Shape 13"/>
          <p:cNvSpPr/>
          <p:nvPr/>
        </p:nvSpPr>
        <p:spPr>
          <a:xfrm>
            <a:off x="6912864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4"/>
          <p:cNvSpPr txBox="1"/>
          <p:nvPr/>
        </p:nvSpPr>
        <p:spPr>
          <a:xfrm>
            <a:off x="6912864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Purchase Order</a:t>
            </a:r>
          </a:p>
        </p:txBody>
      </p:sp>
      <p:sp>
        <p:nvSpPr>
          <p:cNvPr id="85" name="Shape 15"/>
          <p:cNvSpPr/>
          <p:nvPr/>
        </p:nvSpPr>
        <p:spPr>
          <a:xfrm>
            <a:off x="8503919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6"/>
          <p:cNvSpPr txBox="1"/>
          <p:nvPr/>
        </p:nvSpPr>
        <p:spPr>
          <a:xfrm>
            <a:off x="8503919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Delivery / Receipt</a:t>
            </a:r>
          </a:p>
        </p:txBody>
      </p:sp>
      <p:sp>
        <p:nvSpPr>
          <p:cNvPr id="87" name="Shape 17"/>
          <p:cNvSpPr/>
          <p:nvPr/>
        </p:nvSpPr>
        <p:spPr>
          <a:xfrm>
            <a:off x="10094976" y="4480559"/>
            <a:ext cx="1417321" cy="731521"/>
          </a:xfrm>
          <a:prstGeom prst="roundRect">
            <a:avLst>
              <a:gd name="adj" fmla="val 10000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8"/>
          <p:cNvSpPr txBox="1"/>
          <p:nvPr/>
        </p:nvSpPr>
        <p:spPr>
          <a:xfrm>
            <a:off x="10094976" y="476788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Invoice / Payment</a:t>
            </a:r>
          </a:p>
        </p:txBody>
      </p:sp>
      <p:sp>
        <p:nvSpPr>
          <p:cNvPr id="89" name="Text 19"/>
          <p:cNvSpPr txBox="1"/>
          <p:nvPr/>
        </p:nvSpPr>
        <p:spPr>
          <a:xfrm>
            <a:off x="548640" y="5563039"/>
            <a:ext cx="10972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B7A"/>
                </a:solidFill>
              </a:defRPr>
            </a:lvl1pPr>
          </a:lstStyle>
          <a:p>
            <a:pPr/>
            <a:r>
              <a:t>The platform is intended to connect these events for end-to-end traceability.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ARCHITECTURE</a:t>
            </a:r>
          </a:p>
        </p:txBody>
      </p:sp>
      <p:sp>
        <p:nvSpPr>
          <p:cNvPr id="92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Target architecture and trust layers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94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95" name="Shape 4"/>
          <p:cNvSpPr/>
          <p:nvPr/>
        </p:nvSpPr>
        <p:spPr>
          <a:xfrm>
            <a:off x="548640" y="137160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5"/>
          <p:cNvSpPr txBox="1"/>
          <p:nvPr/>
        </p:nvSpPr>
        <p:spPr>
          <a:xfrm>
            <a:off x="548639" y="1644835"/>
            <a:ext cx="24688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SOURCE SYSTEMS</a:t>
            </a:r>
          </a:p>
        </p:txBody>
      </p:sp>
      <p:sp>
        <p:nvSpPr>
          <p:cNvPr id="97" name="Shape 6"/>
          <p:cNvSpPr/>
          <p:nvPr/>
        </p:nvSpPr>
        <p:spPr>
          <a:xfrm>
            <a:off x="3154679" y="1371600"/>
            <a:ext cx="5943601" cy="713232"/>
          </a:xfrm>
          <a:prstGeom prst="roundRect">
            <a:avLst>
              <a:gd name="adj" fmla="val 1025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7"/>
          <p:cNvSpPr txBox="1"/>
          <p:nvPr/>
        </p:nvSpPr>
        <p:spPr>
          <a:xfrm>
            <a:off x="3383279" y="1633536"/>
            <a:ext cx="5577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43040"/>
                </a:solidFill>
              </a:defRPr>
            </a:lvl1pPr>
          </a:lstStyle>
          <a:p>
            <a:pPr/>
            <a:r>
              <a:t>CSV · Excel · JSON · XML · enterprise source domains</a:t>
            </a:r>
          </a:p>
        </p:txBody>
      </p:sp>
      <p:sp>
        <p:nvSpPr>
          <p:cNvPr id="99" name="Shape 8"/>
          <p:cNvSpPr/>
          <p:nvPr/>
        </p:nvSpPr>
        <p:spPr>
          <a:xfrm>
            <a:off x="9235440" y="1371600"/>
            <a:ext cx="2404873" cy="713232"/>
          </a:xfrm>
          <a:prstGeom prst="roundRect">
            <a:avLst>
              <a:gd name="adj" fmla="val 10256"/>
            </a:avLst>
          </a:prstGeom>
          <a:solidFill>
            <a:srgbClr val="DFF3EC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9"/>
          <p:cNvSpPr txBox="1"/>
          <p:nvPr/>
        </p:nvSpPr>
        <p:spPr>
          <a:xfrm>
            <a:off x="9235440" y="1546782"/>
            <a:ext cx="2404873" cy="362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2A7A55"/>
                </a:solidFill>
              </a:defRPr>
            </a:pPr>
            <a:r>
              <a:t>Available</a:t>
            </a:r>
          </a:p>
          <a:p>
            <a:pPr algn="ctr">
              <a:defRPr sz="1100">
                <a:solidFill>
                  <a:srgbClr val="2A7A55"/>
                </a:solidFill>
              </a:defRPr>
            </a:pPr>
            <a:r>
              <a:t>Defined</a:t>
            </a:r>
          </a:p>
        </p:txBody>
      </p:sp>
      <p:sp>
        <p:nvSpPr>
          <p:cNvPr id="101" name="Shape 10"/>
          <p:cNvSpPr/>
          <p:nvPr/>
        </p:nvSpPr>
        <p:spPr>
          <a:xfrm>
            <a:off x="548640" y="2212848"/>
            <a:ext cx="2468880" cy="713233"/>
          </a:xfrm>
          <a:prstGeom prst="roundRect">
            <a:avLst>
              <a:gd name="adj" fmla="val 10256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1"/>
          <p:cNvSpPr txBox="1"/>
          <p:nvPr/>
        </p:nvSpPr>
        <p:spPr>
          <a:xfrm>
            <a:off x="548639" y="2486083"/>
            <a:ext cx="2468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BRONZE / STAGING</a:t>
            </a:r>
          </a:p>
        </p:txBody>
      </p:sp>
      <p:sp>
        <p:nvSpPr>
          <p:cNvPr id="103" name="Shape 12"/>
          <p:cNvSpPr/>
          <p:nvPr/>
        </p:nvSpPr>
        <p:spPr>
          <a:xfrm>
            <a:off x="3154679" y="2212848"/>
            <a:ext cx="5943601" cy="713233"/>
          </a:xfrm>
          <a:prstGeom prst="roundRect">
            <a:avLst>
              <a:gd name="adj" fmla="val 1025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3"/>
          <p:cNvSpPr txBox="1"/>
          <p:nvPr/>
        </p:nvSpPr>
        <p:spPr>
          <a:xfrm>
            <a:off x="3383279" y="2474784"/>
            <a:ext cx="5577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43040"/>
                </a:solidFill>
              </a:defRPr>
            </a:lvl1pPr>
          </a:lstStyle>
          <a:p>
            <a:pPr/>
            <a:r>
              <a:t>Raw landing tables, traceability and reprocessing</a:t>
            </a:r>
          </a:p>
        </p:txBody>
      </p:sp>
      <p:sp>
        <p:nvSpPr>
          <p:cNvPr id="105" name="Shape 14"/>
          <p:cNvSpPr/>
          <p:nvPr/>
        </p:nvSpPr>
        <p:spPr>
          <a:xfrm>
            <a:off x="9235440" y="2212848"/>
            <a:ext cx="2404873" cy="713233"/>
          </a:xfrm>
          <a:prstGeom prst="roundRect">
            <a:avLst>
              <a:gd name="adj" fmla="val 10256"/>
            </a:avLst>
          </a:prstGeom>
          <a:solidFill>
            <a:srgbClr val="DFF3EC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5"/>
          <p:cNvSpPr txBox="1"/>
          <p:nvPr/>
        </p:nvSpPr>
        <p:spPr>
          <a:xfrm>
            <a:off x="9235440" y="2388030"/>
            <a:ext cx="2404873" cy="362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2A7A55"/>
                </a:solidFill>
              </a:defRPr>
            </a:pPr>
            <a:r>
              <a:t>Built</a:t>
            </a:r>
          </a:p>
          <a:p>
            <a:pPr algn="ctr">
              <a:defRPr sz="1100">
                <a:solidFill>
                  <a:srgbClr val="2A7A55"/>
                </a:solidFill>
              </a:defRPr>
            </a:pPr>
            <a:r>
              <a:t>Sprint 1</a:t>
            </a:r>
          </a:p>
        </p:txBody>
      </p:sp>
      <p:sp>
        <p:nvSpPr>
          <p:cNvPr id="107" name="Shape 16"/>
          <p:cNvSpPr/>
          <p:nvPr/>
        </p:nvSpPr>
        <p:spPr>
          <a:xfrm>
            <a:off x="548640" y="3054095"/>
            <a:ext cx="2468880" cy="713233"/>
          </a:xfrm>
          <a:prstGeom prst="roundRect">
            <a:avLst>
              <a:gd name="adj" fmla="val 10256"/>
            </a:avLst>
          </a:prstGeom>
          <a:solidFill>
            <a:srgbClr val="2A7A55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7"/>
          <p:cNvSpPr txBox="1"/>
          <p:nvPr/>
        </p:nvSpPr>
        <p:spPr>
          <a:xfrm>
            <a:off x="548639" y="3327330"/>
            <a:ext cx="2468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SILVER / CLEANSING</a:t>
            </a:r>
          </a:p>
        </p:txBody>
      </p:sp>
      <p:sp>
        <p:nvSpPr>
          <p:cNvPr id="109" name="Shape 18"/>
          <p:cNvSpPr/>
          <p:nvPr/>
        </p:nvSpPr>
        <p:spPr>
          <a:xfrm>
            <a:off x="3154679" y="3054095"/>
            <a:ext cx="5943601" cy="713233"/>
          </a:xfrm>
          <a:prstGeom prst="roundRect">
            <a:avLst>
              <a:gd name="adj" fmla="val 1025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9"/>
          <p:cNvSpPr txBox="1"/>
          <p:nvPr/>
        </p:nvSpPr>
        <p:spPr>
          <a:xfrm>
            <a:off x="3383279" y="3316032"/>
            <a:ext cx="5577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43040"/>
                </a:solidFill>
              </a:defRPr>
            </a:lvl1pPr>
          </a:lstStyle>
          <a:p>
            <a:pPr/>
            <a:r>
              <a:t>Standardized records, profiling and validation</a:t>
            </a:r>
          </a:p>
        </p:txBody>
      </p:sp>
      <p:sp>
        <p:nvSpPr>
          <p:cNvPr id="111" name="Shape 20"/>
          <p:cNvSpPr/>
          <p:nvPr/>
        </p:nvSpPr>
        <p:spPr>
          <a:xfrm>
            <a:off x="9235440" y="3054095"/>
            <a:ext cx="2404873" cy="713233"/>
          </a:xfrm>
          <a:prstGeom prst="roundRect">
            <a:avLst>
              <a:gd name="adj" fmla="val 10256"/>
            </a:avLst>
          </a:prstGeom>
          <a:solidFill>
            <a:srgbClr val="DFF3EC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21"/>
          <p:cNvSpPr txBox="1"/>
          <p:nvPr/>
        </p:nvSpPr>
        <p:spPr>
          <a:xfrm>
            <a:off x="9235440" y="3229278"/>
            <a:ext cx="2404873" cy="362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2A7A55"/>
                </a:solidFill>
              </a:defRPr>
            </a:pPr>
            <a:r>
              <a:t>Built</a:t>
            </a:r>
          </a:p>
          <a:p>
            <a:pPr algn="ctr">
              <a:defRPr sz="1100">
                <a:solidFill>
                  <a:srgbClr val="2A7A55"/>
                </a:solidFill>
              </a:defRPr>
            </a:pPr>
            <a:r>
              <a:t>Sprint 2</a:t>
            </a:r>
          </a:p>
        </p:txBody>
      </p:sp>
      <p:sp>
        <p:nvSpPr>
          <p:cNvPr id="113" name="Shape 22"/>
          <p:cNvSpPr/>
          <p:nvPr/>
        </p:nvSpPr>
        <p:spPr>
          <a:xfrm>
            <a:off x="548640" y="3895344"/>
            <a:ext cx="2468880" cy="713233"/>
          </a:xfrm>
          <a:prstGeom prst="roundRect">
            <a:avLst>
              <a:gd name="adj" fmla="val 10256"/>
            </a:avLst>
          </a:prstGeom>
          <a:solidFill>
            <a:srgbClr val="B87A22"/>
          </a:solidFill>
          <a:ln w="12700">
            <a:solidFill>
              <a:srgbClr val="B87A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23"/>
          <p:cNvSpPr txBox="1"/>
          <p:nvPr/>
        </p:nvSpPr>
        <p:spPr>
          <a:xfrm>
            <a:off x="548639" y="4168579"/>
            <a:ext cx="24688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GOLD / WAREHOUSE</a:t>
            </a:r>
          </a:p>
        </p:txBody>
      </p:sp>
      <p:sp>
        <p:nvSpPr>
          <p:cNvPr id="115" name="Shape 24"/>
          <p:cNvSpPr/>
          <p:nvPr/>
        </p:nvSpPr>
        <p:spPr>
          <a:xfrm>
            <a:off x="3154679" y="3895344"/>
            <a:ext cx="5943601" cy="713233"/>
          </a:xfrm>
          <a:prstGeom prst="roundRect">
            <a:avLst>
              <a:gd name="adj" fmla="val 1025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25"/>
          <p:cNvSpPr txBox="1"/>
          <p:nvPr/>
        </p:nvSpPr>
        <p:spPr>
          <a:xfrm>
            <a:off x="3383279" y="4157280"/>
            <a:ext cx="5577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43040"/>
                </a:solidFill>
              </a:defRPr>
            </a:lvl1pPr>
          </a:lstStyle>
          <a:p>
            <a:pPr/>
            <a:r>
              <a:t>Dimensions, fact tables and analytics-ready data</a:t>
            </a:r>
          </a:p>
        </p:txBody>
      </p:sp>
      <p:sp>
        <p:nvSpPr>
          <p:cNvPr id="117" name="Shape 26"/>
          <p:cNvSpPr/>
          <p:nvPr/>
        </p:nvSpPr>
        <p:spPr>
          <a:xfrm>
            <a:off x="9235440" y="3895344"/>
            <a:ext cx="2404873" cy="713233"/>
          </a:xfrm>
          <a:prstGeom prst="roundRect">
            <a:avLst>
              <a:gd name="adj" fmla="val 10256"/>
            </a:avLst>
          </a:prstGeom>
          <a:solidFill>
            <a:srgbClr val="FBEFD9"/>
          </a:solidFill>
          <a:ln w="12700">
            <a:solidFill>
              <a:srgbClr val="B87A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7"/>
          <p:cNvSpPr txBox="1"/>
          <p:nvPr/>
        </p:nvSpPr>
        <p:spPr>
          <a:xfrm>
            <a:off x="9235440" y="4070526"/>
            <a:ext cx="2404873" cy="362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B87A22"/>
                </a:solidFill>
              </a:defRPr>
            </a:pPr>
            <a:r>
              <a:t>Planned</a:t>
            </a:r>
          </a:p>
          <a:p>
            <a:pPr algn="ctr">
              <a:defRPr sz="1100">
                <a:solidFill>
                  <a:srgbClr val="B87A22"/>
                </a:solidFill>
              </a:defRPr>
            </a:pPr>
            <a:r>
              <a:t>Next</a:t>
            </a:r>
          </a:p>
        </p:txBody>
      </p:sp>
      <p:sp>
        <p:nvSpPr>
          <p:cNvPr id="119" name="Shape 28"/>
          <p:cNvSpPr/>
          <p:nvPr/>
        </p:nvSpPr>
        <p:spPr>
          <a:xfrm>
            <a:off x="548640" y="4736591"/>
            <a:ext cx="2468880" cy="713233"/>
          </a:xfrm>
          <a:prstGeom prst="roundRect">
            <a:avLst>
              <a:gd name="adj" fmla="val 10256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29"/>
          <p:cNvSpPr txBox="1"/>
          <p:nvPr/>
        </p:nvSpPr>
        <p:spPr>
          <a:xfrm>
            <a:off x="548639" y="5009826"/>
            <a:ext cx="2468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CONSUMPTION</a:t>
            </a:r>
          </a:p>
        </p:txBody>
      </p:sp>
      <p:sp>
        <p:nvSpPr>
          <p:cNvPr id="121" name="Shape 30"/>
          <p:cNvSpPr/>
          <p:nvPr/>
        </p:nvSpPr>
        <p:spPr>
          <a:xfrm>
            <a:off x="3154679" y="4736591"/>
            <a:ext cx="5943601" cy="713233"/>
          </a:xfrm>
          <a:prstGeom prst="roundRect">
            <a:avLst>
              <a:gd name="adj" fmla="val 1025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1"/>
          <p:cNvSpPr txBox="1"/>
          <p:nvPr/>
        </p:nvSpPr>
        <p:spPr>
          <a:xfrm>
            <a:off x="3383279" y="4998528"/>
            <a:ext cx="5577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43040"/>
                </a:solidFill>
              </a:defRPr>
            </a:lvl1pPr>
          </a:lstStyle>
          <a:p>
            <a:pPr/>
            <a:r>
              <a:t>Power BI dashboards, KPIs and business reporting</a:t>
            </a:r>
          </a:p>
        </p:txBody>
      </p:sp>
      <p:sp>
        <p:nvSpPr>
          <p:cNvPr id="123" name="Shape 32"/>
          <p:cNvSpPr/>
          <p:nvPr/>
        </p:nvSpPr>
        <p:spPr>
          <a:xfrm>
            <a:off x="9235440" y="4736591"/>
            <a:ext cx="2404873" cy="713233"/>
          </a:xfrm>
          <a:prstGeom prst="roundRect">
            <a:avLst>
              <a:gd name="adj" fmla="val 10256"/>
            </a:avLst>
          </a:prstGeom>
          <a:solidFill>
            <a:srgbClr val="FBEFD9"/>
          </a:solidFill>
          <a:ln w="12700">
            <a:solidFill>
              <a:srgbClr val="B87A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33"/>
          <p:cNvSpPr txBox="1"/>
          <p:nvPr/>
        </p:nvSpPr>
        <p:spPr>
          <a:xfrm>
            <a:off x="9235440" y="4911774"/>
            <a:ext cx="2404873" cy="362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B87A22"/>
                </a:solidFill>
              </a:defRPr>
            </a:pPr>
            <a:r>
              <a:t>Planned</a:t>
            </a:r>
          </a:p>
          <a:p>
            <a:pPr algn="ctr">
              <a:defRPr sz="1100">
                <a:solidFill>
                  <a:srgbClr val="B87A22"/>
                </a:solidFill>
              </a:defRPr>
            </a:pPr>
            <a:r>
              <a:t>Next</a:t>
            </a:r>
          </a:p>
        </p:txBody>
      </p:sp>
      <p:sp>
        <p:nvSpPr>
          <p:cNvPr id="125" name="Text 34"/>
          <p:cNvSpPr txBox="1"/>
          <p:nvPr/>
        </p:nvSpPr>
        <p:spPr>
          <a:xfrm>
            <a:off x="548640" y="5758881"/>
            <a:ext cx="10972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Bronze preserves source fidelity; Silver improves quality; Gold serves analysis.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FOUNDATION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Technology stack and repository organization</a:t>
            </a:r>
          </a:p>
        </p:txBody>
      </p:sp>
      <p:sp>
        <p:nvSpPr>
          <p:cNvPr id="129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30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07</a:t>
            </a:r>
          </a:p>
        </p:txBody>
      </p:sp>
      <p:graphicFrame>
        <p:nvGraphicFramePr>
          <p:cNvPr id="131" name="Table 0"/>
          <p:cNvGraphicFramePr/>
          <p:nvPr/>
        </p:nvGraphicFramePr>
        <p:xfrm>
          <a:off x="548640" y="1371600"/>
          <a:ext cx="11091672" cy="3200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77440"/>
                <a:gridCol w="4480560"/>
                <a:gridCol w="423367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Technology / folder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ETL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Pentaho Data Integration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Extract, transform, validate and load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Database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PostgreSQL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Staging, warehouse, marts, logs and metadata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Programming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Python / Pandas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Profiling, cleansing and analysis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Reporting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Power BI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Dashboards and executive reporting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Version control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Git / GitHub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Collaboration, history and releases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Project artifacts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docs/, datasets/, pentaho/, python/, tests/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Documentation, sources, pipelines and validation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132" name="Shape 4"/>
          <p:cNvSpPr/>
          <p:nvPr/>
        </p:nvSpPr>
        <p:spPr>
          <a:xfrm>
            <a:off x="548640" y="5029200"/>
            <a:ext cx="11091672" cy="640081"/>
          </a:xfrm>
          <a:prstGeom prst="roundRect">
            <a:avLst>
              <a:gd name="adj" fmla="val 11429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5"/>
          <p:cNvSpPr txBox="1"/>
          <p:nvPr/>
        </p:nvSpPr>
        <p:spPr>
          <a:xfrm>
            <a:off x="777239" y="5255961"/>
            <a:ext cx="106070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Sprint 0 deliverables: BRD, architecture, project charter, repository structure and sprint backlogs.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0 · REVIEW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Sprint 0 deliverables and exit criteria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39" name="Shape 4"/>
          <p:cNvSpPr/>
          <p:nvPr/>
        </p:nvSpPr>
        <p:spPr>
          <a:xfrm>
            <a:off x="548640" y="137160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FOUNDATION ARTIFACTS</a:t>
            </a:r>
          </a:p>
        </p:txBody>
      </p:sp>
      <p:sp>
        <p:nvSpPr>
          <p:cNvPr id="141" name="Text 6"/>
          <p:cNvSpPr txBox="1"/>
          <p:nvPr/>
        </p:nvSpPr>
        <p:spPr>
          <a:xfrm>
            <a:off x="777240" y="1965960"/>
            <a:ext cx="4983480" cy="1487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Business Requirement Document (BRD)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Solution architecture diagram and architecture document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GitHub repository with organized project folders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Product backlog and sprint backlog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Project charter: scope, stakeholders, assumptions, risks and success criteria</a:t>
            </a:r>
          </a:p>
        </p:txBody>
      </p:sp>
      <p:sp>
        <p:nvSpPr>
          <p:cNvPr id="142" name="Shape 7"/>
          <p:cNvSpPr/>
          <p:nvPr/>
        </p:nvSpPr>
        <p:spPr>
          <a:xfrm>
            <a:off x="6199632" y="137160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READY FOR DEVELOPMENT</a:t>
            </a:r>
          </a:p>
        </p:txBody>
      </p:sp>
      <p:sp>
        <p:nvSpPr>
          <p:cNvPr id="144" name="Text 9"/>
          <p:cNvSpPr txBox="1"/>
          <p:nvPr/>
        </p:nvSpPr>
        <p:spPr>
          <a:xfrm>
            <a:off x="6428232" y="1965960"/>
            <a:ext cx="4983481" cy="1284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Business problem and intended outcomes documented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Source domains and stakeholders identified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Target architecture and technology stack selected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Delivery process and repository organization established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Sprint 1 begins with source discovery and raw-data ingestion</a:t>
            </a:r>
          </a:p>
        </p:txBody>
      </p:sp>
      <p:sp>
        <p:nvSpPr>
          <p:cNvPr id="145" name="Shape 10"/>
          <p:cNvSpPr/>
          <p:nvPr/>
        </p:nvSpPr>
        <p:spPr>
          <a:xfrm>
            <a:off x="548640" y="5120640"/>
            <a:ext cx="11091672" cy="640081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1"/>
          <p:cNvSpPr txBox="1"/>
          <p:nvPr/>
        </p:nvSpPr>
        <p:spPr>
          <a:xfrm>
            <a:off x="777239" y="5347402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Sprint 0 conclusion: the project direction and implementation foundation were established.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INGESTION</a:t>
            </a:r>
          </a:p>
        </p:txBody>
      </p:sp>
      <p:sp>
        <p:nvSpPr>
          <p:cNvPr id="149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Sprint 1: source discovery and ingestion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52" name="Text 4"/>
          <p:cNvSpPr txBox="1"/>
          <p:nvPr/>
        </p:nvSpPr>
        <p:spPr>
          <a:xfrm>
            <a:off x="548639" y="144990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E6B7A"/>
                </a:solidFill>
              </a:defRPr>
            </a:lvl1pPr>
          </a:lstStyle>
          <a:p>
            <a:pPr/>
            <a:r>
              <a:t>Sprint 1 established the raw-data landing zone and documented how heterogeneous source data enters the platform.</a:t>
            </a:r>
          </a:p>
        </p:txBody>
      </p:sp>
      <p:sp>
        <p:nvSpPr>
          <p:cNvPr id="153" name="Shape 5"/>
          <p:cNvSpPr/>
          <p:nvPr/>
        </p:nvSpPr>
        <p:spPr>
          <a:xfrm>
            <a:off x="548640" y="2103120"/>
            <a:ext cx="3566160" cy="2560321"/>
          </a:xfrm>
          <a:prstGeom prst="roundRect">
            <a:avLst>
              <a:gd name="adj" fmla="val 357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6"/>
          <p:cNvSpPr txBox="1"/>
          <p:nvPr/>
        </p:nvSpPr>
        <p:spPr>
          <a:xfrm>
            <a:off x="777239" y="2328480"/>
            <a:ext cx="3108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155" name="Text 7"/>
          <p:cNvSpPr txBox="1"/>
          <p:nvPr/>
        </p:nvSpPr>
        <p:spPr>
          <a:xfrm>
            <a:off x="777239" y="2697479"/>
            <a:ext cx="3108962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Identify source datasets and business domains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Document schemas, fields and data types</a:t>
            </a:r>
          </a:p>
        </p:txBody>
      </p:sp>
      <p:sp>
        <p:nvSpPr>
          <p:cNvPr id="156" name="Shape 8"/>
          <p:cNvSpPr/>
          <p:nvPr/>
        </p:nvSpPr>
        <p:spPr>
          <a:xfrm>
            <a:off x="4311396" y="2103120"/>
            <a:ext cx="3566160" cy="2560321"/>
          </a:xfrm>
          <a:prstGeom prst="roundRect">
            <a:avLst>
              <a:gd name="adj" fmla="val 357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9"/>
          <p:cNvSpPr txBox="1"/>
          <p:nvPr/>
        </p:nvSpPr>
        <p:spPr>
          <a:xfrm>
            <a:off x="4539996" y="232848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INGEST</a:t>
            </a:r>
          </a:p>
        </p:txBody>
      </p:sp>
      <p:sp>
        <p:nvSpPr>
          <p:cNvPr id="158" name="Text 10"/>
          <p:cNvSpPr txBox="1"/>
          <p:nvPr/>
        </p:nvSpPr>
        <p:spPr>
          <a:xfrm>
            <a:off x="4539996" y="2697479"/>
            <a:ext cx="3108961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Use Pentaho input steps for CSV, Excel, JSON and XML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Load source records to PostgreSQL staging</a:t>
            </a:r>
          </a:p>
        </p:txBody>
      </p:sp>
      <p:sp>
        <p:nvSpPr>
          <p:cNvPr id="159" name="Shape 11"/>
          <p:cNvSpPr/>
          <p:nvPr/>
        </p:nvSpPr>
        <p:spPr>
          <a:xfrm>
            <a:off x="8074152" y="2103120"/>
            <a:ext cx="3566160" cy="2560321"/>
          </a:xfrm>
          <a:prstGeom prst="roundRect">
            <a:avLst>
              <a:gd name="adj" fmla="val 357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2"/>
          <p:cNvSpPr txBox="1"/>
          <p:nvPr/>
        </p:nvSpPr>
        <p:spPr>
          <a:xfrm>
            <a:off x="8302752" y="232848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OBSERVE</a:t>
            </a:r>
          </a:p>
        </p:txBody>
      </p:sp>
      <p:sp>
        <p:nvSpPr>
          <p:cNvPr id="161" name="Text 13"/>
          <p:cNvSpPr txBox="1"/>
          <p:nvPr/>
        </p:nvSpPr>
        <p:spPr>
          <a:xfrm>
            <a:off x="8302752" y="2697479"/>
            <a:ext cx="3108961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Track execution and record counts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Capture malformed records and exceptions</a:t>
            </a:r>
          </a:p>
        </p:txBody>
      </p:sp>
      <p:sp>
        <p:nvSpPr>
          <p:cNvPr id="162" name="Shape 14"/>
          <p:cNvSpPr/>
          <p:nvPr/>
        </p:nvSpPr>
        <p:spPr>
          <a:xfrm>
            <a:off x="548640" y="5029200"/>
            <a:ext cx="11091672" cy="640081"/>
          </a:xfrm>
          <a:prstGeom prst="roundRect">
            <a:avLst>
              <a:gd name="adj" fmla="val 11429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5"/>
          <p:cNvSpPr txBox="1"/>
          <p:nvPr/>
        </p:nvSpPr>
        <p:spPr>
          <a:xfrm>
            <a:off x="777239" y="5255961"/>
            <a:ext cx="106070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Sprint 1 focus: reliable raw landing — not heavy business transformations or final analytics.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SOURCE INVENTORY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Heterogeneous source formats and datasets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68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10</a:t>
            </a:r>
          </a:p>
        </p:txBody>
      </p:sp>
      <p:graphicFrame>
        <p:nvGraphicFramePr>
          <p:cNvPr id="169" name="Table 0"/>
          <p:cNvGraphicFramePr/>
          <p:nvPr/>
        </p:nvGraphicFramePr>
        <p:xfrm>
          <a:off x="548640" y="1371600"/>
          <a:ext cx="11091672" cy="263347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45920"/>
                <a:gridCol w="3931920"/>
                <a:gridCol w="2926080"/>
                <a:gridCol w="2587752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Dataset examples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Pentaho input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 domain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CSV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Suppliers, contracts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CSV File Input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 / contract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Excel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Purchase orders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Microsoft Excel Input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Procurement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JSON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Inventory, warehouse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JSON Input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Inventory / warehouse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XML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Invoices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Get Data from XML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Accounts payable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SQL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Database extracts (where applicable)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Table Input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Enterprise data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Shape 4"/>
          <p:cNvSpPr/>
          <p:nvPr/>
        </p:nvSpPr>
        <p:spPr>
          <a:xfrm>
            <a:off x="548640" y="4480559"/>
            <a:ext cx="11091672" cy="822961"/>
          </a:xfrm>
          <a:prstGeom prst="roundRect">
            <a:avLst>
              <a:gd name="adj" fmla="val 8889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5"/>
          <p:cNvSpPr txBox="1"/>
          <p:nvPr/>
        </p:nvSpPr>
        <p:spPr>
          <a:xfrm>
            <a:off x="777239" y="4798761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Why it matters: supporting multiple formats shows the platform can handle real-world data heterogeneity.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DOCUMENTATION</a:t>
            </a:r>
          </a:p>
        </p:txBody>
      </p:sp>
      <p:sp>
        <p:nvSpPr>
          <p:cNvPr id="174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Source inventory and data dictionary</a:t>
            </a:r>
          </a:p>
        </p:txBody>
      </p:sp>
      <p:sp>
        <p:nvSpPr>
          <p:cNvPr id="175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77" name="Text 4"/>
          <p:cNvSpPr txBox="1"/>
          <p:nvPr/>
        </p:nvSpPr>
        <p:spPr>
          <a:xfrm>
            <a:off x="548639" y="144990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E6B7A"/>
                </a:solidFill>
              </a:defRPr>
            </a:lvl1pPr>
          </a:lstStyle>
          <a:p>
            <a:pPr/>
            <a:r>
              <a:t>Each dataset needs a documented structure and business meaning.</a:t>
            </a:r>
          </a:p>
        </p:txBody>
      </p:sp>
      <p:graphicFrame>
        <p:nvGraphicFramePr>
          <p:cNvPr id="178" name="Table 0"/>
          <p:cNvGraphicFramePr/>
          <p:nvPr/>
        </p:nvGraphicFramePr>
        <p:xfrm>
          <a:off x="548640" y="1920239"/>
          <a:ext cx="11091672" cy="32004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3291840"/>
                <a:gridCol w="505663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Metadata field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Dataset / table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Identify source object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Column name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Supplier_ID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Reference field consistently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Data type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VARCHAR(50)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Support reliable parsing and storage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Nullable / key type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No / Primary key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Define completeness and uniqueness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Business definition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Unique supplier identifier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Clarify meaning for consumers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Source / transformation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suppliers.csv; trim whitespace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Maintain provenance and transformation context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179" name="Shape 5"/>
          <p:cNvSpPr/>
          <p:nvPr/>
        </p:nvSpPr>
        <p:spPr>
          <a:xfrm>
            <a:off x="548640" y="5440679"/>
            <a:ext cx="11091672" cy="548641"/>
          </a:xfrm>
          <a:prstGeom prst="roundRect">
            <a:avLst>
              <a:gd name="adj" fmla="val 13333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6"/>
          <p:cNvSpPr txBox="1"/>
          <p:nvPr/>
        </p:nvSpPr>
        <p:spPr>
          <a:xfrm>
            <a:off x="777239" y="5621721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The repository includes the source inventory and data dictionary artifacts.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ETL FLOW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Pentaho ingestion and PostgreSQL staging</a:t>
            </a:r>
          </a:p>
        </p:txBody>
      </p:sp>
      <p:sp>
        <p:nvSpPr>
          <p:cNvPr id="184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185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86" name="Shape 4"/>
          <p:cNvSpPr/>
          <p:nvPr/>
        </p:nvSpPr>
        <p:spPr>
          <a:xfrm>
            <a:off x="548640" y="1463039"/>
            <a:ext cx="2377440" cy="1188721"/>
          </a:xfrm>
          <a:prstGeom prst="roundRect">
            <a:avLst>
              <a:gd name="adj" fmla="val 7692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5"/>
          <p:cNvSpPr txBox="1"/>
          <p:nvPr/>
        </p:nvSpPr>
        <p:spPr>
          <a:xfrm>
            <a:off x="640079" y="1867470"/>
            <a:ext cx="2194562" cy="379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SOURCE FILES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CSV / Excel / JSON / XML</a:t>
            </a:r>
          </a:p>
        </p:txBody>
      </p:sp>
      <p:sp>
        <p:nvSpPr>
          <p:cNvPr id="188" name="Shape 6"/>
          <p:cNvSpPr/>
          <p:nvPr/>
        </p:nvSpPr>
        <p:spPr>
          <a:xfrm>
            <a:off x="2971799" y="2057400"/>
            <a:ext cx="411481" cy="0"/>
          </a:xfrm>
          <a:prstGeom prst="line">
            <a:avLst/>
          </a:prstGeom>
          <a:ln w="25400">
            <a:solidFill>
              <a:srgbClr val="5E6B7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Shape 7"/>
          <p:cNvSpPr/>
          <p:nvPr/>
        </p:nvSpPr>
        <p:spPr>
          <a:xfrm>
            <a:off x="3429000" y="1463039"/>
            <a:ext cx="2377440" cy="1188721"/>
          </a:xfrm>
          <a:prstGeom prst="roundRect">
            <a:avLst>
              <a:gd name="adj" fmla="val 7692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8"/>
          <p:cNvSpPr txBox="1"/>
          <p:nvPr/>
        </p:nvSpPr>
        <p:spPr>
          <a:xfrm>
            <a:off x="3520440" y="1867470"/>
            <a:ext cx="2194561" cy="379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PENTAHO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Input steps + field selection</a:t>
            </a:r>
          </a:p>
        </p:txBody>
      </p:sp>
      <p:sp>
        <p:nvSpPr>
          <p:cNvPr id="191" name="Shape 9"/>
          <p:cNvSpPr/>
          <p:nvPr/>
        </p:nvSpPr>
        <p:spPr>
          <a:xfrm>
            <a:off x="5852159" y="2057400"/>
            <a:ext cx="411481" cy="0"/>
          </a:xfrm>
          <a:prstGeom prst="line">
            <a:avLst/>
          </a:prstGeom>
          <a:ln w="25400">
            <a:solidFill>
              <a:srgbClr val="5E6B7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10"/>
          <p:cNvSpPr/>
          <p:nvPr/>
        </p:nvSpPr>
        <p:spPr>
          <a:xfrm>
            <a:off x="6309359" y="1463039"/>
            <a:ext cx="2377441" cy="1188721"/>
          </a:xfrm>
          <a:prstGeom prst="roundRect">
            <a:avLst>
              <a:gd name="adj" fmla="val 7692"/>
            </a:avLst>
          </a:prstGeom>
          <a:solidFill>
            <a:srgbClr val="2A7A55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1"/>
          <p:cNvSpPr txBox="1"/>
          <p:nvPr/>
        </p:nvSpPr>
        <p:spPr>
          <a:xfrm>
            <a:off x="6400799" y="1867470"/>
            <a:ext cx="2194562" cy="379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STAGING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PostgreSQL landing tables</a:t>
            </a:r>
          </a:p>
        </p:txBody>
      </p:sp>
      <p:sp>
        <p:nvSpPr>
          <p:cNvPr id="194" name="Shape 12"/>
          <p:cNvSpPr/>
          <p:nvPr/>
        </p:nvSpPr>
        <p:spPr>
          <a:xfrm>
            <a:off x="8732519" y="2057400"/>
            <a:ext cx="411481" cy="0"/>
          </a:xfrm>
          <a:prstGeom prst="line">
            <a:avLst/>
          </a:prstGeom>
          <a:ln w="25400">
            <a:solidFill>
              <a:srgbClr val="5E6B7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13"/>
          <p:cNvSpPr/>
          <p:nvPr/>
        </p:nvSpPr>
        <p:spPr>
          <a:xfrm>
            <a:off x="9189719" y="1463039"/>
            <a:ext cx="2377441" cy="1188721"/>
          </a:xfrm>
          <a:prstGeom prst="roundRect">
            <a:avLst>
              <a:gd name="adj" fmla="val 7692"/>
            </a:avLst>
          </a:prstGeom>
          <a:solidFill>
            <a:srgbClr val="B87A22"/>
          </a:solidFill>
          <a:ln w="12700">
            <a:solidFill>
              <a:srgbClr val="B87A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4"/>
          <p:cNvSpPr txBox="1"/>
          <p:nvPr/>
        </p:nvSpPr>
        <p:spPr>
          <a:xfrm>
            <a:off x="9281159" y="1867470"/>
            <a:ext cx="2194561" cy="379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LOG / EXCEPTIONS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Counts, status, error details</a:t>
            </a:r>
          </a:p>
        </p:txBody>
      </p:sp>
      <p:sp>
        <p:nvSpPr>
          <p:cNvPr id="197" name="Shape 15"/>
          <p:cNvSpPr/>
          <p:nvPr/>
        </p:nvSpPr>
        <p:spPr>
          <a:xfrm>
            <a:off x="548640" y="32004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16"/>
          <p:cNvSpPr txBox="1"/>
          <p:nvPr/>
        </p:nvSpPr>
        <p:spPr>
          <a:xfrm>
            <a:off x="777240" y="34257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BRONZE PRINCIPLE</a:t>
            </a:r>
          </a:p>
        </p:txBody>
      </p:sp>
      <p:sp>
        <p:nvSpPr>
          <p:cNvPr id="199" name="Text 17"/>
          <p:cNvSpPr txBox="1"/>
          <p:nvPr/>
        </p:nvSpPr>
        <p:spPr>
          <a:xfrm>
            <a:off x="777240" y="3794759"/>
            <a:ext cx="4983480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Preserve received data for traceability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Enable reprocessing when later rules change</a:t>
            </a:r>
          </a:p>
        </p:txBody>
      </p:sp>
      <p:sp>
        <p:nvSpPr>
          <p:cNvPr id="200" name="Shape 18"/>
          <p:cNvSpPr/>
          <p:nvPr/>
        </p:nvSpPr>
        <p:spPr>
          <a:xfrm>
            <a:off x="6199632" y="32004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9"/>
          <p:cNvSpPr txBox="1"/>
          <p:nvPr/>
        </p:nvSpPr>
        <p:spPr>
          <a:xfrm>
            <a:off x="6428232" y="34257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BASIC INGESTION RULES</a:t>
            </a:r>
          </a:p>
        </p:txBody>
      </p:sp>
      <p:sp>
        <p:nvSpPr>
          <p:cNvPr id="202" name="Text 20"/>
          <p:cNvSpPr txBox="1"/>
          <p:nvPr/>
        </p:nvSpPr>
        <p:spPr>
          <a:xfrm>
            <a:off x="6428232" y="3794759"/>
            <a:ext cx="4983481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Identify required fields and parse types consistently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Capture unreadable files and malformed records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RELIABILITY</a:t>
            </a:r>
          </a:p>
        </p:txBody>
      </p:sp>
      <p:sp>
        <p:nvSpPr>
          <p:cNvPr id="205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Logging, exception handling and reconciliation</a:t>
            </a:r>
          </a:p>
        </p:txBody>
      </p:sp>
      <p:sp>
        <p:nvSpPr>
          <p:cNvPr id="206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207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13</a:t>
            </a:r>
          </a:p>
        </p:txBody>
      </p:sp>
      <p:graphicFrame>
        <p:nvGraphicFramePr>
          <p:cNvPr id="208" name="Table 0"/>
          <p:cNvGraphicFramePr/>
          <p:nvPr/>
        </p:nvGraphicFramePr>
        <p:xfrm>
          <a:off x="548640" y="1371600"/>
          <a:ext cx="11091672" cy="3200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40480"/>
                <a:gridCol w="725119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Log field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12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Job_ID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Identify a single pipeline execution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Source_File / Source_System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Trace the source of the data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Start_Time / End_Time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Record execution window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Records_Read / Records_Loaded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Measure input and successful staging output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Records_Rejected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Track records that did not load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Status / Error_Message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43040"/>
                          </a:solidFill>
                        </a:rPr>
                        <a:t>Explain success or failure and support investigation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DAE2EB"/>
                      </a:solidFill>
                    </a:lnL>
                    <a:lnR>
                      <a:solidFill>
                        <a:srgbClr val="DAE2EB"/>
                      </a:solidFill>
                    </a:lnR>
                    <a:lnT>
                      <a:solidFill>
                        <a:srgbClr val="DAE2EB"/>
                      </a:solidFill>
                    </a:lnT>
                    <a:lnB>
                      <a:solidFill>
                        <a:srgbClr val="DAE2EB"/>
                      </a:solidFill>
                    </a:lnB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209" name="Shape 4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5"/>
          <p:cNvSpPr txBox="1"/>
          <p:nvPr/>
        </p:nvSpPr>
        <p:spPr>
          <a:xfrm>
            <a:off x="777239" y="5301681"/>
            <a:ext cx="106070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Reconciliation principle: input records = loaded records + rejected records.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1 · REVIEW</a:t>
            </a:r>
          </a:p>
        </p:txBody>
      </p:sp>
      <p:sp>
        <p:nvSpPr>
          <p:cNvPr id="213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Sprint 1 deliverables and success criteria</a:t>
            </a:r>
          </a:p>
        </p:txBody>
      </p:sp>
      <p:sp>
        <p:nvSpPr>
          <p:cNvPr id="214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16" name="Shape 4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DELIVERABLES</a:t>
            </a:r>
          </a:p>
        </p:txBody>
      </p:sp>
      <p:sp>
        <p:nvSpPr>
          <p:cNvPr id="218" name="Text 6"/>
          <p:cNvSpPr txBox="1"/>
          <p:nvPr/>
        </p:nvSpPr>
        <p:spPr>
          <a:xfrm>
            <a:off x="777240" y="1965960"/>
            <a:ext cx="4983480" cy="1284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Source inventory and data dictionary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Pentaho pipelines for selected formats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PostgreSQL staging database and table scripts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Basic ingestion logs and exception-handling evidence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Git commit history and updated repository</a:t>
            </a:r>
          </a:p>
        </p:txBody>
      </p:sp>
      <p:sp>
        <p:nvSpPr>
          <p:cNvPr id="219" name="Shape 7"/>
          <p:cNvSpPr/>
          <p:nvPr/>
        </p:nvSpPr>
        <p:spPr>
          <a:xfrm>
            <a:off x="6199632" y="137160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SUCCESS CRITERIA</a:t>
            </a:r>
          </a:p>
        </p:txBody>
      </p:sp>
      <p:sp>
        <p:nvSpPr>
          <p:cNvPr id="221" name="Text 9"/>
          <p:cNvSpPr txBox="1"/>
          <p:nvPr/>
        </p:nvSpPr>
        <p:spPr>
          <a:xfrm>
            <a:off x="6428232" y="1965960"/>
            <a:ext cx="4983481" cy="1563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Each selected dataset has documented schema and purpose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Each selected format can be read through Pentaho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Raw records load to the intended staging tables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Record counts can be reconciled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Failures have meaningful logged errors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Artifacts are committed and ready for profiling</a:t>
            </a:r>
          </a:p>
        </p:txBody>
      </p:sp>
      <p:sp>
        <p:nvSpPr>
          <p:cNvPr id="222" name="Shape 10"/>
          <p:cNvSpPr/>
          <p:nvPr/>
        </p:nvSpPr>
        <p:spPr>
          <a:xfrm>
            <a:off x="548640" y="5303520"/>
            <a:ext cx="11091672" cy="640081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2700">
            <a:solidFill>
              <a:srgbClr val="1223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11"/>
          <p:cNvSpPr txBox="1"/>
          <p:nvPr/>
        </p:nvSpPr>
        <p:spPr>
          <a:xfrm>
            <a:off x="777239" y="5530282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Sprint 1 conclusion: source data moves from discovery into a controlled landing zone.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2 · DATA QUALITY</a:t>
            </a:r>
          </a:p>
        </p:txBody>
      </p:sp>
      <p:sp>
        <p:nvSpPr>
          <p:cNvPr id="226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Sprint 2: profiling, cleansing and validation</a:t>
            </a:r>
          </a:p>
        </p:txBody>
      </p:sp>
      <p:sp>
        <p:nvSpPr>
          <p:cNvPr id="227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228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29" name="Text 4"/>
          <p:cNvSpPr txBox="1"/>
          <p:nvPr/>
        </p:nvSpPr>
        <p:spPr>
          <a:xfrm>
            <a:off x="548639" y="144990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E6B7A"/>
                </a:solidFill>
              </a:defRPr>
            </a:lvl1pPr>
          </a:lstStyle>
          <a:p>
            <a:pPr/>
            <a:r>
              <a:t>Sprint 2 uses Python/Pandas to establish a data-quality baseline across six datasets.</a:t>
            </a:r>
          </a:p>
        </p:txBody>
      </p:sp>
      <p:sp>
        <p:nvSpPr>
          <p:cNvPr id="230" name="Shape 5"/>
          <p:cNvSpPr/>
          <p:nvPr/>
        </p:nvSpPr>
        <p:spPr>
          <a:xfrm>
            <a:off x="548640" y="2011679"/>
            <a:ext cx="3566160" cy="1691641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6"/>
          <p:cNvSpPr txBox="1"/>
          <p:nvPr/>
        </p:nvSpPr>
        <p:spPr>
          <a:xfrm>
            <a:off x="777239" y="2215581"/>
            <a:ext cx="31089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Purchase orders</a:t>
            </a:r>
          </a:p>
        </p:txBody>
      </p:sp>
      <p:sp>
        <p:nvSpPr>
          <p:cNvPr id="232" name="Text 7"/>
          <p:cNvSpPr txBox="1"/>
          <p:nvPr/>
        </p:nvSpPr>
        <p:spPr>
          <a:xfrm>
            <a:off x="777239" y="2586379"/>
            <a:ext cx="3108962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5,000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33" name="Text 8"/>
          <p:cNvSpPr txBox="1"/>
          <p:nvPr/>
        </p:nvSpPr>
        <p:spPr>
          <a:xfrm>
            <a:off x="777239" y="3277039"/>
            <a:ext cx="31089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23 columns  ·  Excel</a:t>
            </a:r>
          </a:p>
        </p:txBody>
      </p:sp>
      <p:sp>
        <p:nvSpPr>
          <p:cNvPr id="234" name="Shape 9"/>
          <p:cNvSpPr/>
          <p:nvPr/>
        </p:nvSpPr>
        <p:spPr>
          <a:xfrm>
            <a:off x="4311396" y="2011679"/>
            <a:ext cx="3566160" cy="1691641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0"/>
          <p:cNvSpPr txBox="1"/>
          <p:nvPr/>
        </p:nvSpPr>
        <p:spPr>
          <a:xfrm>
            <a:off x="4539996" y="2215581"/>
            <a:ext cx="31089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Suppliers</a:t>
            </a:r>
          </a:p>
        </p:txBody>
      </p:sp>
      <p:sp>
        <p:nvSpPr>
          <p:cNvPr id="236" name="Text 11"/>
          <p:cNvSpPr txBox="1"/>
          <p:nvPr/>
        </p:nvSpPr>
        <p:spPr>
          <a:xfrm>
            <a:off x="4539996" y="2586379"/>
            <a:ext cx="310896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250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37" name="Text 12"/>
          <p:cNvSpPr txBox="1"/>
          <p:nvPr/>
        </p:nvSpPr>
        <p:spPr>
          <a:xfrm>
            <a:off x="4539996" y="3277039"/>
            <a:ext cx="310896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10 columns  ·  CSV</a:t>
            </a:r>
          </a:p>
        </p:txBody>
      </p:sp>
      <p:sp>
        <p:nvSpPr>
          <p:cNvPr id="238" name="Shape 13"/>
          <p:cNvSpPr/>
          <p:nvPr/>
        </p:nvSpPr>
        <p:spPr>
          <a:xfrm>
            <a:off x="8074152" y="2011679"/>
            <a:ext cx="3566160" cy="1691641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4"/>
          <p:cNvSpPr txBox="1"/>
          <p:nvPr/>
        </p:nvSpPr>
        <p:spPr>
          <a:xfrm>
            <a:off x="8302752" y="2215581"/>
            <a:ext cx="31089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Warehouses</a:t>
            </a:r>
          </a:p>
        </p:txBody>
      </p:sp>
      <p:sp>
        <p:nvSpPr>
          <p:cNvPr id="240" name="Text 15"/>
          <p:cNvSpPr txBox="1"/>
          <p:nvPr/>
        </p:nvSpPr>
        <p:spPr>
          <a:xfrm>
            <a:off x="8302752" y="2586379"/>
            <a:ext cx="310896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10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41" name="Text 16"/>
          <p:cNvSpPr txBox="1"/>
          <p:nvPr/>
        </p:nvSpPr>
        <p:spPr>
          <a:xfrm>
            <a:off x="8302752" y="3277039"/>
            <a:ext cx="310896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8 columns  ·  JSON</a:t>
            </a:r>
          </a:p>
        </p:txBody>
      </p:sp>
      <p:sp>
        <p:nvSpPr>
          <p:cNvPr id="242" name="Shape 17"/>
          <p:cNvSpPr/>
          <p:nvPr/>
        </p:nvSpPr>
        <p:spPr>
          <a:xfrm>
            <a:off x="548640" y="3886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8"/>
          <p:cNvSpPr txBox="1"/>
          <p:nvPr/>
        </p:nvSpPr>
        <p:spPr>
          <a:xfrm>
            <a:off x="777239" y="4090101"/>
            <a:ext cx="31089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Contracts</a:t>
            </a:r>
          </a:p>
        </p:txBody>
      </p:sp>
      <p:sp>
        <p:nvSpPr>
          <p:cNvPr id="244" name="Text 19"/>
          <p:cNvSpPr txBox="1"/>
          <p:nvPr/>
        </p:nvSpPr>
        <p:spPr>
          <a:xfrm>
            <a:off x="777239" y="4460899"/>
            <a:ext cx="3108962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600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45" name="Text 20"/>
          <p:cNvSpPr txBox="1"/>
          <p:nvPr/>
        </p:nvSpPr>
        <p:spPr>
          <a:xfrm>
            <a:off x="777239" y="5151559"/>
            <a:ext cx="31089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10 columns  ·  CSV</a:t>
            </a:r>
          </a:p>
        </p:txBody>
      </p:sp>
      <p:sp>
        <p:nvSpPr>
          <p:cNvPr id="246" name="Shape 21"/>
          <p:cNvSpPr/>
          <p:nvPr/>
        </p:nvSpPr>
        <p:spPr>
          <a:xfrm>
            <a:off x="4311396" y="3886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2"/>
          <p:cNvSpPr txBox="1"/>
          <p:nvPr/>
        </p:nvSpPr>
        <p:spPr>
          <a:xfrm>
            <a:off x="4539996" y="4090101"/>
            <a:ext cx="31089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Inventory</a:t>
            </a:r>
          </a:p>
        </p:txBody>
      </p:sp>
      <p:sp>
        <p:nvSpPr>
          <p:cNvPr id="248" name="Text 23"/>
          <p:cNvSpPr txBox="1"/>
          <p:nvPr/>
        </p:nvSpPr>
        <p:spPr>
          <a:xfrm>
            <a:off x="4539996" y="4460899"/>
            <a:ext cx="310896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5,000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49" name="Text 24"/>
          <p:cNvSpPr txBox="1"/>
          <p:nvPr/>
        </p:nvSpPr>
        <p:spPr>
          <a:xfrm>
            <a:off x="4539996" y="5151559"/>
            <a:ext cx="3108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14 columns  ·  JSON</a:t>
            </a:r>
          </a:p>
        </p:txBody>
      </p:sp>
      <p:sp>
        <p:nvSpPr>
          <p:cNvPr id="250" name="Shape 25"/>
          <p:cNvSpPr/>
          <p:nvPr/>
        </p:nvSpPr>
        <p:spPr>
          <a:xfrm>
            <a:off x="8074152" y="3886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26"/>
          <p:cNvSpPr txBox="1"/>
          <p:nvPr/>
        </p:nvSpPr>
        <p:spPr>
          <a:xfrm>
            <a:off x="8302752" y="4090101"/>
            <a:ext cx="31089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233F"/>
                </a:solidFill>
              </a:defRPr>
            </a:lvl1pPr>
          </a:lstStyle>
          <a:p>
            <a:pPr/>
            <a:r>
              <a:t>Invoices</a:t>
            </a:r>
          </a:p>
        </p:txBody>
      </p:sp>
      <p:sp>
        <p:nvSpPr>
          <p:cNvPr id="252" name="Text 27"/>
          <p:cNvSpPr txBox="1"/>
          <p:nvPr/>
        </p:nvSpPr>
        <p:spPr>
          <a:xfrm>
            <a:off x="8302752" y="4460899"/>
            <a:ext cx="310896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400">
                <a:solidFill>
                  <a:srgbClr val="1B8F8C"/>
                </a:solidFill>
              </a:defRPr>
            </a:pPr>
            <a:r>
              <a:t>5,000</a:t>
            </a:r>
            <a:r>
              <a:rPr b="0" sz="1600">
                <a:solidFill>
                  <a:srgbClr val="5E6B7A"/>
                </a:solidFill>
              </a:rPr>
              <a:t> rows</a:t>
            </a:r>
          </a:p>
        </p:txBody>
      </p:sp>
      <p:sp>
        <p:nvSpPr>
          <p:cNvPr id="253" name="Text 28"/>
          <p:cNvSpPr txBox="1"/>
          <p:nvPr/>
        </p:nvSpPr>
        <p:spPr>
          <a:xfrm>
            <a:off x="8302752" y="5151559"/>
            <a:ext cx="3108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B7A"/>
                </a:solidFill>
              </a:defRPr>
            </a:lvl1pPr>
          </a:lstStyle>
          <a:p>
            <a:pPr/>
            <a:r>
              <a:t>13 columns  ·  XML</a:t>
            </a:r>
          </a:p>
        </p:txBody>
      </p:sp>
      <p:sp>
        <p:nvSpPr>
          <p:cNvPr id="254" name="Text 29"/>
          <p:cNvSpPr txBox="1"/>
          <p:nvPr/>
        </p:nvSpPr>
        <p:spPr>
          <a:xfrm>
            <a:off x="548640" y="5910887"/>
            <a:ext cx="10972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E6B7A"/>
                </a:solidFill>
              </a:defRPr>
            </a:lvl1pPr>
          </a:lstStyle>
          <a:p>
            <a:pPr/>
            <a:r>
              <a:t>Dataset sizes come from the Sprint 2 notebook outputs (python/sprint2.ipynb).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2 · DATA QUALITY</a:t>
            </a:r>
          </a:p>
        </p:txBody>
      </p:sp>
      <p:sp>
        <p:nvSpPr>
          <p:cNvPr id="257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Profiling and cleansing methods</a:t>
            </a:r>
          </a:p>
        </p:txBody>
      </p:sp>
      <p:sp>
        <p:nvSpPr>
          <p:cNvPr id="258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60" name="Shape 4"/>
          <p:cNvSpPr/>
          <p:nvPr/>
        </p:nvSpPr>
        <p:spPr>
          <a:xfrm>
            <a:off x="548640" y="13716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5"/>
          <p:cNvSpPr txBox="1"/>
          <p:nvPr/>
        </p:nvSpPr>
        <p:spPr>
          <a:xfrm>
            <a:off x="777239" y="1596960"/>
            <a:ext cx="3108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PROFILE</a:t>
            </a:r>
          </a:p>
        </p:txBody>
      </p:sp>
      <p:sp>
        <p:nvSpPr>
          <p:cNvPr id="262" name="Text 6"/>
          <p:cNvSpPr txBox="1"/>
          <p:nvPr/>
        </p:nvSpPr>
        <p:spPr>
          <a:xfrm>
            <a:off x="777239" y="1965960"/>
            <a:ext cx="3108962" cy="1690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Inspect schema, column names and data types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Count nulls and missing-value percentages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Check duplicate rows and candidate keys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Review numeric distributions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Test relationships between datasets</a:t>
            </a:r>
          </a:p>
        </p:txBody>
      </p:sp>
      <p:sp>
        <p:nvSpPr>
          <p:cNvPr id="263" name="Shape 7"/>
          <p:cNvSpPr/>
          <p:nvPr/>
        </p:nvSpPr>
        <p:spPr>
          <a:xfrm>
            <a:off x="4311396" y="13716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8"/>
          <p:cNvSpPr txBox="1"/>
          <p:nvPr/>
        </p:nvSpPr>
        <p:spPr>
          <a:xfrm>
            <a:off x="4539996" y="159696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CLEANSE</a:t>
            </a:r>
          </a:p>
        </p:txBody>
      </p:sp>
      <p:sp>
        <p:nvSpPr>
          <p:cNvPr id="265" name="Text 9"/>
          <p:cNvSpPr txBox="1"/>
          <p:nvPr/>
        </p:nvSpPr>
        <p:spPr>
          <a:xfrm>
            <a:off x="4539996" y="1965960"/>
            <a:ext cx="3108961" cy="1690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Trim whitespace from column names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Replace spaces/hyphens with underscores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Strip leading/trailing spaces from text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Convert selected date fields to datetime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Keep cleaned copies separate from originals</a:t>
            </a:r>
          </a:p>
        </p:txBody>
      </p:sp>
      <p:sp>
        <p:nvSpPr>
          <p:cNvPr id="266" name="Shape 10"/>
          <p:cNvSpPr/>
          <p:nvPr/>
        </p:nvSpPr>
        <p:spPr>
          <a:xfrm>
            <a:off x="8074152" y="13716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1"/>
          <p:cNvSpPr txBox="1"/>
          <p:nvPr/>
        </p:nvSpPr>
        <p:spPr>
          <a:xfrm>
            <a:off x="8302752" y="159696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HANDLE MISSING VALUES</a:t>
            </a:r>
          </a:p>
        </p:txBody>
      </p:sp>
      <p:sp>
        <p:nvSpPr>
          <p:cNvPr id="268" name="Text 12"/>
          <p:cNvSpPr txBox="1"/>
          <p:nvPr/>
        </p:nvSpPr>
        <p:spPr>
          <a:xfrm>
            <a:off x="8302752" y="1965960"/>
            <a:ext cx="3108961" cy="181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Purchase-order Contract_ID: “No Contract”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Invoice Paid_Date: “Not Paid” in cleansing workflow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Use date coercion to expose invalid values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Retain unresolved due/paid date issues for follow-up</a:t>
            </a:r>
          </a:p>
        </p:txBody>
      </p:sp>
      <p:sp>
        <p:nvSpPr>
          <p:cNvPr id="269" name="Shape 13"/>
          <p:cNvSpPr/>
          <p:nvPr/>
        </p:nvSpPr>
        <p:spPr>
          <a:xfrm>
            <a:off x="548640" y="5440679"/>
            <a:ext cx="11091672" cy="548641"/>
          </a:xfrm>
          <a:prstGeom prst="roundRect">
            <a:avLst>
              <a:gd name="adj" fmla="val 13333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14"/>
          <p:cNvSpPr txBox="1"/>
          <p:nvPr/>
        </p:nvSpPr>
        <p:spPr>
          <a:xfrm>
            <a:off x="777239" y="5621721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Repository artifacts: python/sprint2.ipynb and silver/Cleansing/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2 · VALIDATION</a:t>
            </a:r>
          </a:p>
        </p:txBody>
      </p:sp>
      <p:sp>
        <p:nvSpPr>
          <p:cNvPr id="273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Referential integrity checks</a:t>
            </a:r>
          </a:p>
        </p:txBody>
      </p:sp>
      <p:sp>
        <p:nvSpPr>
          <p:cNvPr id="274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275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76" name="Shape 4"/>
          <p:cNvSpPr/>
          <p:nvPr/>
        </p:nvSpPr>
        <p:spPr>
          <a:xfrm>
            <a:off x="548640" y="1371600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5"/>
          <p:cNvSpPr txBox="1"/>
          <p:nvPr/>
        </p:nvSpPr>
        <p:spPr>
          <a:xfrm>
            <a:off x="777240" y="1523808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Purchase Orders → Suppliers</a:t>
            </a:r>
          </a:p>
        </p:txBody>
      </p:sp>
      <p:sp>
        <p:nvSpPr>
          <p:cNvPr id="278" name="Text 6"/>
          <p:cNvSpPr txBox="1"/>
          <p:nvPr/>
        </p:nvSpPr>
        <p:spPr>
          <a:xfrm>
            <a:off x="6309359" y="1523808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79" name="Shape 7"/>
          <p:cNvSpPr/>
          <p:nvPr/>
        </p:nvSpPr>
        <p:spPr>
          <a:xfrm>
            <a:off x="548640" y="1956816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8"/>
          <p:cNvSpPr txBox="1"/>
          <p:nvPr/>
        </p:nvSpPr>
        <p:spPr>
          <a:xfrm>
            <a:off x="777240" y="2109024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Purchase Orders → Warehouses</a:t>
            </a:r>
          </a:p>
        </p:txBody>
      </p:sp>
      <p:sp>
        <p:nvSpPr>
          <p:cNvPr id="281" name="Text 9"/>
          <p:cNvSpPr txBox="1"/>
          <p:nvPr/>
        </p:nvSpPr>
        <p:spPr>
          <a:xfrm>
            <a:off x="6309359" y="2109024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82" name="Shape 10"/>
          <p:cNvSpPr/>
          <p:nvPr/>
        </p:nvSpPr>
        <p:spPr>
          <a:xfrm>
            <a:off x="548640" y="2542032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1"/>
          <p:cNvSpPr txBox="1"/>
          <p:nvPr/>
        </p:nvSpPr>
        <p:spPr>
          <a:xfrm>
            <a:off x="777240" y="2694240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Purchase Orders → Contracts</a:t>
            </a:r>
          </a:p>
        </p:txBody>
      </p:sp>
      <p:sp>
        <p:nvSpPr>
          <p:cNvPr id="284" name="Text 12"/>
          <p:cNvSpPr txBox="1"/>
          <p:nvPr/>
        </p:nvSpPr>
        <p:spPr>
          <a:xfrm>
            <a:off x="6309359" y="2694240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 (excluding “No Contract”)</a:t>
            </a:r>
          </a:p>
        </p:txBody>
      </p:sp>
      <p:sp>
        <p:nvSpPr>
          <p:cNvPr id="285" name="Shape 13"/>
          <p:cNvSpPr/>
          <p:nvPr/>
        </p:nvSpPr>
        <p:spPr>
          <a:xfrm>
            <a:off x="548640" y="3127248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14"/>
          <p:cNvSpPr txBox="1"/>
          <p:nvPr/>
        </p:nvSpPr>
        <p:spPr>
          <a:xfrm>
            <a:off x="777240" y="3279456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Inventory → Purchase Orders</a:t>
            </a:r>
          </a:p>
        </p:txBody>
      </p:sp>
      <p:sp>
        <p:nvSpPr>
          <p:cNvPr id="287" name="Text 15"/>
          <p:cNvSpPr txBox="1"/>
          <p:nvPr/>
        </p:nvSpPr>
        <p:spPr>
          <a:xfrm>
            <a:off x="6309359" y="3279456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88" name="Shape 16"/>
          <p:cNvSpPr/>
          <p:nvPr/>
        </p:nvSpPr>
        <p:spPr>
          <a:xfrm>
            <a:off x="548640" y="3712464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17"/>
          <p:cNvSpPr txBox="1"/>
          <p:nvPr/>
        </p:nvSpPr>
        <p:spPr>
          <a:xfrm>
            <a:off x="777240" y="3864672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Inventory → Warehouses</a:t>
            </a:r>
          </a:p>
        </p:txBody>
      </p:sp>
      <p:sp>
        <p:nvSpPr>
          <p:cNvPr id="290" name="Text 18"/>
          <p:cNvSpPr txBox="1"/>
          <p:nvPr/>
        </p:nvSpPr>
        <p:spPr>
          <a:xfrm>
            <a:off x="6309359" y="3864672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91" name="Shape 19"/>
          <p:cNvSpPr/>
          <p:nvPr/>
        </p:nvSpPr>
        <p:spPr>
          <a:xfrm>
            <a:off x="548640" y="4297679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20"/>
          <p:cNvSpPr txBox="1"/>
          <p:nvPr/>
        </p:nvSpPr>
        <p:spPr>
          <a:xfrm>
            <a:off x="777240" y="4449888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Invoices → Purchase Orders</a:t>
            </a:r>
          </a:p>
        </p:txBody>
      </p:sp>
      <p:sp>
        <p:nvSpPr>
          <p:cNvPr id="293" name="Text 21"/>
          <p:cNvSpPr txBox="1"/>
          <p:nvPr/>
        </p:nvSpPr>
        <p:spPr>
          <a:xfrm>
            <a:off x="6309359" y="4449888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94" name="Shape 22"/>
          <p:cNvSpPr/>
          <p:nvPr/>
        </p:nvSpPr>
        <p:spPr>
          <a:xfrm>
            <a:off x="548640" y="4882896"/>
            <a:ext cx="11091672" cy="493777"/>
          </a:xfrm>
          <a:prstGeom prst="roundRect">
            <a:avLst>
              <a:gd name="adj" fmla="val 11111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23"/>
          <p:cNvSpPr txBox="1"/>
          <p:nvPr/>
        </p:nvSpPr>
        <p:spPr>
          <a:xfrm>
            <a:off x="777240" y="5035104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233F"/>
                </a:solidFill>
              </a:defRPr>
            </a:lvl1pPr>
          </a:lstStyle>
          <a:p>
            <a:pPr/>
            <a:r>
              <a:t>Invoices → Suppliers</a:t>
            </a:r>
          </a:p>
        </p:txBody>
      </p:sp>
      <p:sp>
        <p:nvSpPr>
          <p:cNvPr id="296" name="Text 24"/>
          <p:cNvSpPr txBox="1"/>
          <p:nvPr/>
        </p:nvSpPr>
        <p:spPr>
          <a:xfrm>
            <a:off x="6309359" y="5035104"/>
            <a:ext cx="51206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0 invalid</a:t>
            </a:r>
          </a:p>
        </p:txBody>
      </p:sp>
      <p:sp>
        <p:nvSpPr>
          <p:cNvPr id="297" name="Text 25"/>
          <p:cNvSpPr txBox="1"/>
          <p:nvPr/>
        </p:nvSpPr>
        <p:spPr>
          <a:xfrm>
            <a:off x="548639" y="5768779"/>
            <a:ext cx="11064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B7A"/>
                </a:solidFill>
              </a:defRPr>
            </a:lvl1pPr>
          </a:lstStyle>
          <a:p>
            <a:pPr/>
            <a:r>
              <a:t>The Sprint 2 notebook reports zero invalid references for the relationships tested. 276 of 5,000 purchase orders (5.5%) originally had no contract reference.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2 · VALIDATION</a:t>
            </a:r>
          </a:p>
        </p:txBody>
      </p:sp>
      <p:sp>
        <p:nvSpPr>
          <p:cNvPr id="300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Inventory consistency and quality findings</a:t>
            </a:r>
          </a:p>
        </p:txBody>
      </p:sp>
      <p:sp>
        <p:nvSpPr>
          <p:cNvPr id="301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302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03" name="Shape 4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STOCK RANGES</a:t>
            </a:r>
          </a:p>
        </p:txBody>
      </p:sp>
      <p:sp>
        <p:nvSpPr>
          <p:cNvPr id="305" name="Text 6"/>
          <p:cNvSpPr txBox="1"/>
          <p:nvPr/>
        </p:nvSpPr>
        <p:spPr>
          <a:xfrm>
            <a:off x="777240" y="1965960"/>
            <a:ext cx="498348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lvl1pPr>
          </a:lstStyle>
          <a:p>
            <a:pPr/>
            <a:r>
              <a:t>No negative opening-stock, stock-in, stock-out or closing-stock records reported</a:t>
            </a:r>
          </a:p>
        </p:txBody>
      </p:sp>
      <p:sp>
        <p:nvSpPr>
          <p:cNvPr id="306" name="Shape 7"/>
          <p:cNvSpPr/>
          <p:nvPr/>
        </p:nvSpPr>
        <p:spPr>
          <a:xfrm>
            <a:off x="6199632" y="13716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B8F8C"/>
                </a:solidFill>
              </a:defRPr>
            </a:lvl1pPr>
          </a:lstStyle>
          <a:p>
            <a:pPr/>
            <a:r>
              <a:t>CAPACITY UTILIZATION</a:t>
            </a:r>
          </a:p>
        </p:txBody>
      </p:sp>
      <p:sp>
        <p:nvSpPr>
          <p:cNvPr id="308" name="Text 9"/>
          <p:cNvSpPr txBox="1"/>
          <p:nvPr/>
        </p:nvSpPr>
        <p:spPr>
          <a:xfrm>
            <a:off x="6428232" y="1965960"/>
            <a:ext cx="49834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lvl1pPr>
          </a:lstStyle>
          <a:p>
            <a:pPr/>
            <a:r>
              <a:t>No records outside the 0–100% range reported</a:t>
            </a:r>
          </a:p>
        </p:txBody>
      </p:sp>
      <p:sp>
        <p:nvSpPr>
          <p:cNvPr id="309" name="Shape 10"/>
          <p:cNvSpPr/>
          <p:nvPr/>
        </p:nvSpPr>
        <p:spPr>
          <a:xfrm>
            <a:off x="548640" y="3520440"/>
            <a:ext cx="5440680" cy="1920241"/>
          </a:xfrm>
          <a:prstGeom prst="roundRect">
            <a:avLst>
              <a:gd name="adj" fmla="val 4762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1"/>
          <p:cNvSpPr txBox="1"/>
          <p:nvPr/>
        </p:nvSpPr>
        <p:spPr>
          <a:xfrm>
            <a:off x="777240" y="374580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7A55"/>
                </a:solidFill>
              </a:defRPr>
            </a:lvl1pPr>
          </a:lstStyle>
          <a:p>
            <a:pPr/>
            <a:r>
              <a:t>STOCK RECONCILIATION</a:t>
            </a:r>
          </a:p>
        </p:txBody>
      </p:sp>
      <p:sp>
        <p:nvSpPr>
          <p:cNvPr id="311" name="Text 12"/>
          <p:cNvSpPr txBox="1"/>
          <p:nvPr/>
        </p:nvSpPr>
        <p:spPr>
          <a:xfrm>
            <a:off x="777240" y="4114800"/>
            <a:ext cx="498348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lvl1pPr>
          </a:lstStyle>
          <a:p>
            <a:pPr/>
            <a:r>
              <a:t>No discrepancies reported between closing stock and max(opening + in − out, 0)</a:t>
            </a:r>
          </a:p>
        </p:txBody>
      </p:sp>
      <p:sp>
        <p:nvSpPr>
          <p:cNvPr id="312" name="Shape 13"/>
          <p:cNvSpPr/>
          <p:nvPr/>
        </p:nvSpPr>
        <p:spPr>
          <a:xfrm>
            <a:off x="6199632" y="3520440"/>
            <a:ext cx="5440680" cy="1920241"/>
          </a:xfrm>
          <a:prstGeom prst="roundRect">
            <a:avLst>
              <a:gd name="adj" fmla="val 4762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14"/>
          <p:cNvSpPr txBox="1"/>
          <p:nvPr/>
        </p:nvSpPr>
        <p:spPr>
          <a:xfrm>
            <a:off x="6428232" y="374580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B87A22"/>
                </a:solidFill>
              </a:defRPr>
            </a:lvl1pPr>
          </a:lstStyle>
          <a:p>
            <a:pPr/>
            <a:r>
              <a:t>QUALITY FLAG</a:t>
            </a:r>
          </a:p>
        </p:txBody>
      </p:sp>
      <p:sp>
        <p:nvSpPr>
          <p:cNvPr id="314" name="Text 15"/>
          <p:cNvSpPr txBox="1"/>
          <p:nvPr/>
        </p:nvSpPr>
        <p:spPr>
          <a:xfrm>
            <a:off x="6428232" y="4114800"/>
            <a:ext cx="49834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lvl1pPr>
          </a:lstStyle>
          <a:p>
            <a:pPr/>
            <a:r>
              <a:t>All 5,000 inventory records marked Valid in the notebook output</a:t>
            </a:r>
          </a:p>
        </p:txBody>
      </p:sp>
      <p:sp>
        <p:nvSpPr>
          <p:cNvPr id="315" name="Text 16"/>
          <p:cNvSpPr txBox="1"/>
          <p:nvPr/>
        </p:nvSpPr>
        <p:spPr>
          <a:xfrm>
            <a:off x="548640" y="5865167"/>
            <a:ext cx="10972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E6B7A"/>
                </a:solidFill>
              </a:defRPr>
            </a:lvl1pPr>
          </a:lstStyle>
          <a:p>
            <a:pPr/>
            <a:r>
              <a:t>These are the validation results reported in the Sprint 2 notebook.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B8F8C"/>
                </a:solidFill>
              </a:defRPr>
            </a:lvl1pPr>
          </a:lstStyle>
          <a:p>
            <a:pPr/>
            <a:r>
              <a:t>SPRINT 2 · OUTCOMES</a:t>
            </a:r>
          </a:p>
        </p:txBody>
      </p:sp>
      <p:sp>
        <p:nvSpPr>
          <p:cNvPr id="318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233F"/>
                </a:solidFill>
              </a:defRPr>
            </a:lvl1pPr>
          </a:lstStyle>
          <a:p>
            <a:pPr/>
            <a:r>
              <a:t>Sprint 2 findings and repository evidence</a:t>
            </a:r>
          </a:p>
        </p:txBody>
      </p:sp>
      <p:sp>
        <p:nvSpPr>
          <p:cNvPr id="319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E6B7A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320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E6B7A"/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321" name="Shape 4"/>
          <p:cNvSpPr/>
          <p:nvPr/>
        </p:nvSpPr>
        <p:spPr>
          <a:xfrm>
            <a:off x="548640" y="137160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5"/>
          <p:cNvSpPr txBox="1"/>
          <p:nvPr/>
        </p:nvSpPr>
        <p:spPr>
          <a:xfrm>
            <a:off x="777240" y="1596960"/>
            <a:ext cx="49834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B87A22"/>
                </a:solidFill>
              </a:defRPr>
            </a:lvl1pPr>
          </a:lstStyle>
          <a:p>
            <a:pPr/>
            <a:r>
              <a:t>IMPORTANT FINDINGS</a:t>
            </a:r>
          </a:p>
        </p:txBody>
      </p:sp>
      <p:sp>
        <p:nvSpPr>
          <p:cNvPr id="323" name="Text 6"/>
          <p:cNvSpPr txBox="1"/>
          <p:nvPr/>
        </p:nvSpPr>
        <p:spPr>
          <a:xfrm>
            <a:off x="777240" y="1965959"/>
            <a:ext cx="4983480" cy="928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Product_ID repeats across purchase orders; it is not a unique PO key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276 purchase orders (5.5%) have no contract reference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Due_Date and Paid_Date still have missing values after date conversion</a:t>
            </a:r>
          </a:p>
        </p:txBody>
      </p:sp>
      <p:sp>
        <p:nvSpPr>
          <p:cNvPr id="324" name="Shape 7"/>
          <p:cNvSpPr/>
          <p:nvPr/>
        </p:nvSpPr>
        <p:spPr>
          <a:xfrm>
            <a:off x="6199632" y="137160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EFF5FA"/>
          </a:solidFill>
          <a:ln w="12700">
            <a:solidFill>
              <a:srgbClr val="DAE2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8"/>
          <p:cNvSpPr txBox="1"/>
          <p:nvPr/>
        </p:nvSpPr>
        <p:spPr>
          <a:xfrm>
            <a:off x="6428232" y="1596960"/>
            <a:ext cx="4983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A5CA0"/>
                </a:solidFill>
              </a:defRPr>
            </a:lvl1pPr>
          </a:lstStyle>
          <a:p>
            <a:pPr/>
            <a:r>
              <a:t>REPOSITORY EVIDENCE</a:t>
            </a:r>
          </a:p>
        </p:txBody>
      </p:sp>
      <p:sp>
        <p:nvSpPr>
          <p:cNvPr id="326" name="Text 9"/>
          <p:cNvSpPr txBox="1"/>
          <p:nvPr/>
        </p:nvSpPr>
        <p:spPr>
          <a:xfrm>
            <a:off x="6428232" y="1965959"/>
            <a:ext cx="4983481" cy="1004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python/sprint2.ipynb: profiling, cleansing and validation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silver/Cleansing/: cleaned dataset copies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silver/Validation/: profiling and quality report images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243040"/>
                </a:solidFill>
              </a:defRPr>
            </a:pPr>
            <a:r>
              <a:t>tests/test_procurement.py: test script</a:t>
            </a:r>
          </a:p>
        </p:txBody>
      </p:sp>
      <p:sp>
        <p:nvSpPr>
          <p:cNvPr id="327" name="Shape 10"/>
          <p:cNvSpPr/>
          <p:nvPr/>
        </p:nvSpPr>
        <p:spPr>
          <a:xfrm>
            <a:off x="548640" y="4434840"/>
            <a:ext cx="11091672" cy="822961"/>
          </a:xfrm>
          <a:prstGeom prst="roundRect">
            <a:avLst>
              <a:gd name="adj" fmla="val 8889"/>
            </a:avLst>
          </a:prstGeom>
          <a:solidFill>
            <a:srgbClr val="B87A22"/>
          </a:solidFill>
          <a:ln w="12700">
            <a:solidFill>
              <a:srgbClr val="B87A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1"/>
          <p:cNvSpPr txBox="1"/>
          <p:nvPr/>
        </p:nvSpPr>
        <p:spPr>
          <a:xfrm>
            <a:off x="777239" y="4638742"/>
            <a:ext cx="10607042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Follow-up: define business rules for missing invoice dates, review optional contract handling and confirm automated tests in the target environment.</a:t>
            </a:r>
          </a:p>
        </p:txBody>
      </p:sp>
      <p:sp>
        <p:nvSpPr>
          <p:cNvPr id="329" name="Shape 12"/>
          <p:cNvSpPr/>
          <p:nvPr/>
        </p:nvSpPr>
        <p:spPr>
          <a:xfrm>
            <a:off x="548640" y="5440679"/>
            <a:ext cx="11091672" cy="822961"/>
          </a:xfrm>
          <a:prstGeom prst="roundRect">
            <a:avLst>
              <a:gd name="adj" fmla="val 8889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13"/>
          <p:cNvSpPr txBox="1"/>
          <p:nvPr/>
        </p:nvSpPr>
        <p:spPr>
          <a:xfrm>
            <a:off x="777239" y="5758881"/>
            <a:ext cx="10607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Sprint 2 conclusion: profiling, cleansing and validation create a documented baseline for downstream warehouse and analytics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 0"/>
          <p:cNvSpPr txBox="1"/>
          <p:nvPr/>
        </p:nvSpPr>
        <p:spPr>
          <a:xfrm>
            <a:off x="548640" y="344346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7FD6D2"/>
                </a:solidFill>
              </a:defRPr>
            </a:lvl1pPr>
          </a:lstStyle>
          <a:p>
            <a:pPr/>
            <a:r>
              <a:t>OVERALL PROJECT REVIEW</a:t>
            </a:r>
          </a:p>
        </p:txBody>
      </p:sp>
      <p:sp>
        <p:nvSpPr>
          <p:cNvPr id="333" name="Text 1"/>
          <p:cNvSpPr txBox="1"/>
          <p:nvPr/>
        </p:nvSpPr>
        <p:spPr>
          <a:xfrm>
            <a:off x="548639" y="692021"/>
            <a:ext cx="11064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From project definition to data-quality baseline</a:t>
            </a:r>
          </a:p>
        </p:txBody>
      </p:sp>
      <p:sp>
        <p:nvSpPr>
          <p:cNvPr id="334" name="Text 2"/>
          <p:cNvSpPr txBox="1"/>
          <p:nvPr/>
        </p:nvSpPr>
        <p:spPr>
          <a:xfrm>
            <a:off x="548640" y="645159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/>
            <a:r>
              <a:t>ABC GLOBAL MANUFACTURING LTD.  |  ENTERPRISE PROCUREMENT DATA PLATFORM</a:t>
            </a:r>
          </a:p>
        </p:txBody>
      </p:sp>
      <p:sp>
        <p:nvSpPr>
          <p:cNvPr id="335" name="Text 3"/>
          <p:cNvSpPr txBox="1"/>
          <p:nvPr/>
        </p:nvSpPr>
        <p:spPr>
          <a:xfrm>
            <a:off x="11064240" y="6446564"/>
            <a:ext cx="57607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A9B8CC"/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36" name="Shape 4"/>
          <p:cNvSpPr/>
          <p:nvPr/>
        </p:nvSpPr>
        <p:spPr>
          <a:xfrm>
            <a:off x="548640" y="1554480"/>
            <a:ext cx="2194561" cy="914401"/>
          </a:xfrm>
          <a:prstGeom prst="roundRect">
            <a:avLst>
              <a:gd name="adj" fmla="val 10000"/>
            </a:avLst>
          </a:prstGeom>
          <a:solidFill>
            <a:srgbClr val="2A5CA0"/>
          </a:solidFill>
          <a:ln w="12700">
            <a:solidFill>
              <a:srgbClr val="2A5C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5"/>
          <p:cNvSpPr txBox="1"/>
          <p:nvPr/>
        </p:nvSpPr>
        <p:spPr>
          <a:xfrm>
            <a:off x="548639" y="1907103"/>
            <a:ext cx="219456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SPRINT 0</a:t>
            </a:r>
          </a:p>
        </p:txBody>
      </p:sp>
      <p:sp>
        <p:nvSpPr>
          <p:cNvPr id="338" name="Shape 6"/>
          <p:cNvSpPr/>
          <p:nvPr/>
        </p:nvSpPr>
        <p:spPr>
          <a:xfrm>
            <a:off x="2880360" y="1554480"/>
            <a:ext cx="8759953" cy="914401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 w="12700">
            <a:solidFill>
              <a:srgbClr val="2C4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7"/>
          <p:cNvSpPr txBox="1"/>
          <p:nvPr/>
        </p:nvSpPr>
        <p:spPr>
          <a:xfrm>
            <a:off x="3108959" y="1907103"/>
            <a:ext cx="83210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Defined business need, scope, architecture, technology stack and repository plan</a:t>
            </a:r>
          </a:p>
        </p:txBody>
      </p:sp>
      <p:sp>
        <p:nvSpPr>
          <p:cNvPr id="340" name="Shape 8"/>
          <p:cNvSpPr/>
          <p:nvPr/>
        </p:nvSpPr>
        <p:spPr>
          <a:xfrm>
            <a:off x="548640" y="2651760"/>
            <a:ext cx="2194561" cy="914401"/>
          </a:xfrm>
          <a:prstGeom prst="roundRect">
            <a:avLst>
              <a:gd name="adj" fmla="val 10000"/>
            </a:avLst>
          </a:prstGeom>
          <a:solidFill>
            <a:srgbClr val="1B8F8C"/>
          </a:solidFill>
          <a:ln w="12700">
            <a:solidFill>
              <a:srgbClr val="1B8F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9"/>
          <p:cNvSpPr txBox="1"/>
          <p:nvPr/>
        </p:nvSpPr>
        <p:spPr>
          <a:xfrm>
            <a:off x="548639" y="3004383"/>
            <a:ext cx="219456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SPRINT 1</a:t>
            </a:r>
          </a:p>
        </p:txBody>
      </p:sp>
      <p:sp>
        <p:nvSpPr>
          <p:cNvPr id="342" name="Shape 10"/>
          <p:cNvSpPr/>
          <p:nvPr/>
        </p:nvSpPr>
        <p:spPr>
          <a:xfrm>
            <a:off x="2880360" y="2651760"/>
            <a:ext cx="8759953" cy="914401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 w="12700">
            <a:solidFill>
              <a:srgbClr val="2C4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11"/>
          <p:cNvSpPr txBox="1"/>
          <p:nvPr/>
        </p:nvSpPr>
        <p:spPr>
          <a:xfrm>
            <a:off x="3108959" y="3004383"/>
            <a:ext cx="83210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Documented sources and ingestion approach; established the staging and observability design</a:t>
            </a:r>
          </a:p>
        </p:txBody>
      </p:sp>
      <p:sp>
        <p:nvSpPr>
          <p:cNvPr id="344" name="Shape 12"/>
          <p:cNvSpPr/>
          <p:nvPr/>
        </p:nvSpPr>
        <p:spPr>
          <a:xfrm>
            <a:off x="548640" y="3749040"/>
            <a:ext cx="2194561" cy="914401"/>
          </a:xfrm>
          <a:prstGeom prst="roundRect">
            <a:avLst>
              <a:gd name="adj" fmla="val 10000"/>
            </a:avLst>
          </a:prstGeom>
          <a:solidFill>
            <a:srgbClr val="2A7A55"/>
          </a:solidFill>
          <a:ln w="12700">
            <a:solidFill>
              <a:srgbClr val="2A7A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13"/>
          <p:cNvSpPr txBox="1"/>
          <p:nvPr/>
        </p:nvSpPr>
        <p:spPr>
          <a:xfrm>
            <a:off x="548639" y="4101663"/>
            <a:ext cx="219456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SPRINT 2</a:t>
            </a:r>
          </a:p>
        </p:txBody>
      </p:sp>
      <p:sp>
        <p:nvSpPr>
          <p:cNvPr id="346" name="Shape 14"/>
          <p:cNvSpPr/>
          <p:nvPr/>
        </p:nvSpPr>
        <p:spPr>
          <a:xfrm>
            <a:off x="2880360" y="3749040"/>
            <a:ext cx="8759953" cy="914401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 w="12700">
            <a:solidFill>
              <a:srgbClr val="2C4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15"/>
          <p:cNvSpPr txBox="1"/>
          <p:nvPr/>
        </p:nvSpPr>
        <p:spPr>
          <a:xfrm>
            <a:off x="3108959" y="4101663"/>
            <a:ext cx="83210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Profiled six datasets; implemented cleansing; validated relationships and inventory rules</a:t>
            </a:r>
          </a:p>
        </p:txBody>
      </p:sp>
      <p:sp>
        <p:nvSpPr>
          <p:cNvPr id="348" name="Text 16"/>
          <p:cNvSpPr txBox="1"/>
          <p:nvPr/>
        </p:nvSpPr>
        <p:spPr>
          <a:xfrm>
            <a:off x="548639" y="538182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7FD6D2"/>
                </a:solidFill>
              </a:defRPr>
            </a:lvl1pPr>
          </a:lstStyle>
          <a:p>
            <a:pPr/>
            <a:r>
              <a:t>NEXT: close data-quality follow-ups, continue warehouse development and progress toward analytics delivery.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