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89920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91919"/>
                </a:solidFill>
                <a:latin typeface="Aptos"/>
              </a:rPr>
              <a:t>ENTERPRISE PROCUREMENT
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43200"/>
            <a:ext cx="96012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373737"/>
                </a:solidFill>
                <a:latin typeface="Aptos"/>
              </a:rPr>
              <a:t>Combined project review  |  Sprints 0–3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657600"/>
            <a:ext cx="9601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96969"/>
                </a:solidFill>
                <a:latin typeface="Aptos"/>
              </a:rPr>
              <a:t>ABC Global Manufacturing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572000"/>
            <a:ext cx="10515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Project Initiation  •  Ingestion  •  Data Quality  •  Governance &amp;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5715000"/>
            <a:ext cx="10698480" cy="2286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Project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0 · 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4974336" cy="722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Business need, scope, stakeholders and target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1 ·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30552"/>
            <a:ext cx="4974336" cy="722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Discover six source datasets and establish raw landing/staging.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27248"/>
            <a:ext cx="53035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5526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2 · Improve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566160"/>
            <a:ext cx="4974336" cy="722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Profile, cleanse and validate source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27248"/>
            <a:ext cx="5303520" cy="12344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25526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3 · Govern &amp;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4974336" cy="722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Document lineage, glossary, validation and Power BI reporting.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2920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3737"/>
                </a:solidFill>
                <a:latin typeface="Aptos"/>
              </a:rPr>
              <a:t>Delivery principle: make data traceable first, then improve consistency and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0 · INITIATION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Business context and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Procurement data is spread across purchase orders, suppliers, contracts, warehouses, inventory and invoices.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Different formats and structures make records difficult to connect and trace.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Supplier performance, contract compliance, stock levels and invoice status are hard to assess consistently.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The business needs a governed platform that supports reliable operational and executive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0 · INITIATION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Objectives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73737"/>
                </a:solidFill>
                <a:latin typeface="Aptos"/>
              </a:rPr>
              <a:t>Bring together heterogeneous procurement source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847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Standardize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73737"/>
                </a:solidFill>
                <a:latin typeface="Aptos"/>
              </a:rPr>
              <a:t>Clean and validate supplier and procurement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6551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551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73737"/>
                </a:solidFill>
                <a:latin typeface="Aptos"/>
              </a:rPr>
              <a:t>Prepare staging and analytics-ready warehouse structures.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Govern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73737"/>
                </a:solidFill>
                <a:latin typeface="Aptos"/>
              </a:rPr>
              <a:t>Maintain metadata, audit evidence and lineage.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8472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73737"/>
                </a:solidFill>
                <a:latin typeface="Aptos"/>
              </a:rPr>
              <a:t>Support procurement, supplier, inventory and invoice reporting.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196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6551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Collaborate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73737"/>
                </a:solidFill>
                <a:latin typeface="Aptos"/>
              </a:rPr>
              <a:t>Use Git/GitHub and structured project documentation.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0 · INITIATION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Stakeholders and procurement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Procurement: purchase orders, category activity and cycle time.</a:t>
            </a:r>
          </a:p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Supplier management: lead time, reliability, ratings and compliance.</a:t>
            </a:r>
          </a:p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Warehouse / inventory: stock levels and replenishment visibility.</a:t>
            </a:r>
          </a:p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Accounts Payable: invoice, payment and overdue status.</a:t>
            </a:r>
          </a:p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Executives: trusted KPIs; Data / IT: reliable pipelines, governance and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5156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3737"/>
                </a:solidFill>
                <a:latin typeface="Aptos"/>
              </a:rPr>
              <a:t>Lifecycle: Requirement → Approval → Supplier / Contract → Purchase Order → Delivery / Receipt → Invoice / 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0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Target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835640" cy="7772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10506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1 · Source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10506456" cy="265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CSV · Excel · JSON · XML · source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70048"/>
            <a:ext cx="10835640" cy="7772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798064"/>
            <a:ext cx="10506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2 · Bronze / 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108960"/>
            <a:ext cx="10506456" cy="265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Raw landing tables and traceability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48456"/>
            <a:ext cx="10835640" cy="7772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776472"/>
            <a:ext cx="10506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3 · Silver / cleansing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087368"/>
            <a:ext cx="10506456" cy="265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Standardization, profiling and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626864"/>
            <a:ext cx="10835640" cy="7772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4754880"/>
            <a:ext cx="10506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4 · Gold / warehouse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5065776"/>
            <a:ext cx="10506456" cy="265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Dimensions and fact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605272"/>
            <a:ext cx="10835640" cy="77724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5733288"/>
            <a:ext cx="105064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5 · Consumption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6044184"/>
            <a:ext cx="10506456" cy="265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Power BI dashboards and business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96969"/>
                </a:solidFill>
                <a:latin typeface="Aptos"/>
              </a:rPr>
              <a:t>Bronze preserves source fidelity; Silver improves quality; Gold serves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0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Technology and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Pentaho Data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847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6551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Profiling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551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Python / 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Power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8472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Version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Git / 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196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6551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docs/ · datasets/ · pentaho/ · python/ · tests/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0 ·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Sprint 0 ·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Business Requirement Document and project charter.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Solution architecture and selected technology stack.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Source domains, stakeholders, scope and assumptions documented.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GitHub repository structure and product / sprint backlogs established.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Exit outcome: project direction and implementation foundation 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1 ·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Six source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Purchase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Excel · 5,000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847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Suppliers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CSV · 250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691640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6551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Contracts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551" y="2130552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CSV · 600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Warehouses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JSON · 10 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8472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JSON · 5,000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1960" y="2852928"/>
            <a:ext cx="3459480" cy="9601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6551" y="298094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Invoices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291840"/>
            <a:ext cx="3130296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XML · 5,000 rows (Sprint 2 source notebook)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96969"/>
                </a:solidFill>
                <a:latin typeface="Aptos"/>
              </a:rPr>
              <a:t>Counts are reported in the Sprints 0–2 presentation and notebook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1 ·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Pentaho ingestion and staging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Identify source datasets, business domains, schemas and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Use Pentaho input steps for CSV, Excel, JSON and XML.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Load source records to PostgreSQL staging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Track records read/loaded, rejects, status and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3327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73737"/>
                </a:solidFill>
                <a:latin typeface="Aptos"/>
              </a:rPr>
              <a:t>Reconciliation principle: records read = records loaded + records rejected.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1 ·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Metadata and pipeline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Data dictionary: dataset, column name, type, nullable/key status and business definition.</a:t>
            </a:r>
          </a:p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Lineage metadata: source file, transformation and destination table.</a:t>
            </a:r>
          </a:p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Execution logs: Job_ID, source, start/end time, records read/loaded/rejected, status and error.</a:t>
            </a:r>
          </a:p>
          <a:p>
            <a:pPr>
              <a:spcAft>
                <a:spcPts val="14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Exception handling should preserve useful error details and support reprocessing.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1 ·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Sprint 1 ·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Source inventory and data dictionary.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Pentaho ingestion pipelines for selected formats.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PostgreSQL staging database and table scripts.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Basic ingestion logs and exception-handling evidence.</a:t>
            </a:r>
          </a:p>
          <a:p>
            <a:pPr>
              <a:spcAft>
                <a:spcPts val="14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t>Exit outcome: source data has a documented path into a controlled landing zone.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2 ·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Profiling and cleansing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Inspect schema/types, nulls, duplicates, distributions and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Standardize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Trim whitespace; normalize column names; convert selected date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Handle 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Use agreed placeholders where appropriate and retain unresolved date issues for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Preserve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73737"/>
                </a:solidFill>
                <a:latin typeface="Aptos"/>
              </a:rPr>
              <a:t>Keep cleaned copies separate from original source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2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Relationship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Purchase orders → Suppliers: 0 invalid references reported.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Purchase orders → Warehouses: 0 invalid references reported.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Purchase orders → Contracts: 0 invalid references, excluding “No Contract”.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Inventory → Purchase Orders / Warehouses: 0 invalid references reported.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Invoices → Purchase Orders / Suppliers: 0 invalid references reported.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276 of 5,000 purchase orders (5.5%) originally had no contract reference.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2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Inventory consistency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Stock ranges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No negative stock quantities reported.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No values outside the 0–100% utilization range reported.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Reconciliation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No discrepancies reported by the Sprint 2 notebook for max(opening + in − out, 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Quality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All 5,000 inventory records marked Valid in the notebook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96969"/>
                </a:solidFill>
                <a:latin typeface="Aptos"/>
              </a:rPr>
              <a:t>These are results reported in the Sprint 2 notebook; later checks should be rerun after data or rule changes.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2 ·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Sprint 2 · Findings and follow-up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Product_ID repeats across purchase orders and is not a unique purchase-order key.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276 purchase orders (5.5%) have no contract reference; confirm whether contract is optional.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Due_Date and Paid_Date still have missing values after date conversion.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Repository evidence includes the Sprint 2 notebook, cleaned data, validation report images and test script.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Follow-up: agree rules for missing invoice dates and confirm tests in the target environment.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3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Governance, lineage and glossary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Source-to-target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Documents source fields, target fields, transformations and destination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Data lineage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30552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Explains where data starts, how it is processed and which tables/reports use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Metadata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Stores mapping, table/column definitions, relationships, validation rules and review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81528"/>
            <a:ext cx="5303520" cy="118872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20954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Business glossary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0440"/>
            <a:ext cx="4974336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Defines procurement terms and KPI calculations consistently.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3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Sprint 3 · Validation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 lIns="73152" tIns="36576" rIns="45720" bIns="18288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Check primary keys for nulls and duplicates; check non-null foreign keys against dimensions.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Validate PO arithmetic: quantity × unit cost against subtotal, then subtotal plus charges against total PO value.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Reconcile inventory closing stock against opening stock + stock in − stock out.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Review invoice payment, matching, approval and paid-date consistency.</a:t>
            </a:r>
          </a:p>
          <a:p>
            <a:pPr>
              <a:spcAft>
                <a:spcPts val="14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Validation results from supplied warehouse exports require follow-up on some business rules.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3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Validation findings requiring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59480" cy="91440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3130296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73737"/>
                </a:solidFill>
                <a:latin typeface="Aptos"/>
              </a:rPr>
              <a:t>Dimension/fact keys checked: no NULL or duplicate key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1691640"/>
            <a:ext cx="3459480" cy="91440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8472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472" y="2130552"/>
            <a:ext cx="3130296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73737"/>
                </a:solidFill>
                <a:latin typeface="Aptos"/>
              </a:rPr>
              <a:t>15,000 PO rows passed arithmetic checks within 0.01 tolerance.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1691640"/>
            <a:ext cx="3459480" cy="91440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6551" y="1819656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551" y="2130552"/>
            <a:ext cx="3130296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73737"/>
                </a:solidFill>
                <a:latin typeface="Aptos"/>
              </a:rPr>
              <a:t>Checked non-NULL foreign keys matched related dimensions.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07208"/>
            <a:ext cx="3459480" cy="91440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3522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46120"/>
            <a:ext cx="3130296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73737"/>
                </a:solidFill>
                <a:latin typeface="Aptos"/>
              </a:rPr>
              <a:t>330 / 5,000 inventory rows did not match the simple stock formula.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2807208"/>
            <a:ext cx="3459480" cy="91440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8472" y="293522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8472" y="3246120"/>
            <a:ext cx="3130296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73737"/>
                </a:solidFill>
                <a:latin typeface="Aptos"/>
              </a:rPr>
              <a:t>Supplier rating is NULL for all 250 suppliers.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1960" y="2807208"/>
            <a:ext cx="3459480" cy="91440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6551" y="2935224"/>
            <a:ext cx="313029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551" y="3246120"/>
            <a:ext cx="3130296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73737"/>
                </a:solidFill>
                <a:latin typeface="Aptos"/>
              </a:rPr>
              <a:t>828 PO rows have NULL contract keys; confirm whether contract is optional.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96969"/>
                </a:solidFill>
                <a:latin typeface="Aptos"/>
              </a:rPr>
              <a:t>Invoice status fields are populated; confirm paid-date patterns against business rules.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3 ·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Power BI · Executive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20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96969"/>
                </a:solidFill>
                <a:latin typeface="Aptos"/>
              </a:rPr>
              <a:t>KPI cards · Category mix · PO status · Year slicer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3 ·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Power BI · Supplier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21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96969"/>
                </a:solidFill>
                <a:latin typeface="Aptos"/>
              </a:rPr>
              <a:t>Supplier rating analysis is limited because the supplied rating field is NULL.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96969"/>
                </a:solidFill>
                <a:latin typeface="Aptos"/>
              </a:rPr>
              <a:t>SPRINT 3 ·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91919"/>
                </a:solidFill>
                <a:latin typeface="Aptos"/>
              </a:rPr>
              <a:t>Power BI · Inventory and invoice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96969"/>
                </a:solidFill>
                <a:latin typeface="Aptos"/>
              </a:rPr>
              <a:t>Inventory trend uses the snapshot-date relationship in a measure.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108813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dirty="0">
                <a:solidFill>
                  <a:srgbClr val="696969"/>
                </a:solidFill>
                <a:latin typeface="Aptos"/>
              </a:rPr>
              <a:t>OVERALL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dirty="0">
                <a:solidFill>
                  <a:srgbClr val="191919"/>
                </a:solidFill>
                <a:latin typeface="Aptos"/>
              </a:rPr>
              <a:t>Project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96969"/>
                </a:solidFill>
                <a:latin typeface="Aptos"/>
              </a:rPr>
              <a:t>EPDP  |  Sprints 0–3                                     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4974336" cy="539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Defined business need, scope, architecture and repository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0352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819656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30552"/>
            <a:ext cx="4974336" cy="539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Documented sources and ingestion / staging approach.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44368"/>
            <a:ext cx="530352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07238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83279"/>
            <a:ext cx="4974336" cy="539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Profiled six datasets, cleansed records and validated relationships.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44368"/>
            <a:ext cx="5303520" cy="1051560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072384"/>
            <a:ext cx="497433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91919"/>
                </a:solidFill>
                <a:latin typeface="Aptos"/>
              </a:rPr>
              <a:t>Sprint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383279"/>
            <a:ext cx="4974336" cy="539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Aptos"/>
              </a:rPr>
              <a:t>Organized governance artifacts, validation findings and Power BI reporting.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51B43-4A51-783D-C402-A4E67EB7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3BFFBE-B8D5-4B7A-5012-1A351D79BB97}"/>
              </a:ext>
            </a:extLst>
          </p:cNvPr>
          <p:cNvSpPr txBox="1"/>
          <p:nvPr/>
        </p:nvSpPr>
        <p:spPr>
          <a:xfrm>
            <a:off x="594360" y="310896"/>
            <a:ext cx="1088136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900" b="1" dirty="0">
                <a:solidFill>
                  <a:srgbClr val="696969"/>
                </a:solidFill>
                <a:latin typeface="Aptos"/>
              </a:rPr>
              <a:t>Conclusion</a:t>
            </a:r>
            <a:endParaRPr sz="900" b="1" dirty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59B75-11A9-8BD3-4609-6535A454B293}"/>
              </a:ext>
            </a:extLst>
          </p:cNvPr>
          <p:cNvSpPr txBox="1"/>
          <p:nvPr/>
        </p:nvSpPr>
        <p:spPr>
          <a:xfrm>
            <a:off x="594360" y="658368"/>
            <a:ext cx="10972800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700" b="1" dirty="0">
                <a:solidFill>
                  <a:srgbClr val="191919"/>
                </a:solidFill>
                <a:latin typeface="Aptos"/>
              </a:rPr>
              <a:t>Conclusion</a:t>
            </a:r>
            <a:endParaRPr sz="27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270DE1-928A-A8CA-6920-B8A8D7FA415B}"/>
              </a:ext>
            </a:extLst>
          </p:cNvPr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4001D-A0EC-C507-F307-450D9E2E2B4F}"/>
              </a:ext>
            </a:extLst>
          </p:cNvPr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dirty="0">
                <a:solidFill>
                  <a:srgbClr val="696969"/>
                </a:solidFill>
                <a:latin typeface="Aptos"/>
              </a:rPr>
              <a:t>EPDP  |  Sprints 0–3                                      2</a:t>
            </a:r>
            <a:r>
              <a:rPr lang="en-US" sz="800" b="0" dirty="0">
                <a:solidFill>
                  <a:srgbClr val="696969"/>
                </a:solidFill>
                <a:latin typeface="Aptos"/>
              </a:rPr>
              <a:t>4</a:t>
            </a:r>
            <a:endParaRPr sz="800" b="0" dirty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8BADEC-0D88-5367-714F-A0F00FDD0545}"/>
              </a:ext>
            </a:extLst>
          </p:cNvPr>
          <p:cNvSpPr txBox="1"/>
          <p:nvPr/>
        </p:nvSpPr>
        <p:spPr>
          <a:xfrm>
            <a:off x="594360" y="1828800"/>
            <a:ext cx="10972800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Successfully defined the project architecture and established a structured data engineering workflow across Sprints 0–3.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Integrated six procurement datasets in different formats using Pentaho and PostgreSQL staging.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Performed data profiling, cleansing, and validation to improve data consistency and reliability.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Documented data governance, source-to-target mapping, data lineage, and business glossary.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Developed Power BI dashboards to monitor procurement, supplier performance, inventory, and invoice status.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Future Scope:</a:t>
            </a:r>
            <a:r>
              <a:rPr lang="en-IN" dirty="0"/>
              <a:t> Resolve outstanding data quality issues, strengthen validation rules, and enhance analytics for better business decision-making.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418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B68FA-6B5C-26F5-824F-703674A4BE24}"/>
              </a:ext>
            </a:extLst>
          </p:cNvPr>
          <p:cNvSpPr txBox="1"/>
          <p:nvPr/>
        </p:nvSpPr>
        <p:spPr>
          <a:xfrm>
            <a:off x="1985913" y="2705725"/>
            <a:ext cx="82201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IN" sz="8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703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9C5C8-82E8-E550-C3FA-974EA636C445}"/>
              </a:ext>
            </a:extLst>
          </p:cNvPr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dirty="0">
                <a:solidFill>
                  <a:srgbClr val="696969"/>
                </a:solidFill>
                <a:latin typeface="Aptos"/>
              </a:rPr>
              <a:t>EPDP  |  Sprints 0–3                                      2</a:t>
            </a:r>
            <a:r>
              <a:rPr lang="en-US" sz="800" b="0" dirty="0">
                <a:solidFill>
                  <a:srgbClr val="696969"/>
                </a:solidFill>
                <a:latin typeface="Aptos"/>
              </a:rPr>
              <a:t>4</a:t>
            </a:r>
            <a:endParaRPr sz="800" b="0" dirty="0">
              <a:solidFill>
                <a:srgbClr val="696969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0E5B9-00EE-8449-79BC-76CECB8C65F7}"/>
              </a:ext>
            </a:extLst>
          </p:cNvPr>
          <p:cNvSpPr txBox="1"/>
          <p:nvPr/>
        </p:nvSpPr>
        <p:spPr>
          <a:xfrm>
            <a:off x="594360" y="310896"/>
            <a:ext cx="1088136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900" b="1" dirty="0">
                <a:solidFill>
                  <a:srgbClr val="696969"/>
                </a:solidFill>
                <a:latin typeface="Aptos"/>
              </a:rPr>
              <a:t>Conclusion</a:t>
            </a:r>
            <a:endParaRPr lang="en-IN" sz="900" b="1" dirty="0"/>
          </a:p>
        </p:txBody>
      </p:sp>
    </p:spTree>
    <p:extLst>
      <p:ext uri="{BB962C8B-B14F-4D97-AF65-F5344CB8AC3E}">
        <p14:creationId xmlns:p14="http://schemas.microsoft.com/office/powerpoint/2010/main" val="153842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1628</Words>
  <Application>Microsoft Office PowerPoint</Application>
  <PresentationFormat>Widescreen</PresentationFormat>
  <Paragraphs>237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Jaheen</dc:creator>
  <cp:keywords/>
  <dc:description>generated using python-pptx</dc:description>
  <cp:lastModifiedBy>jaheen jallaludin</cp:lastModifiedBy>
  <cp:revision>2</cp:revision>
  <dcterms:created xsi:type="dcterms:W3CDTF">2013-01-27T09:14:16Z</dcterms:created>
  <dcterms:modified xsi:type="dcterms:W3CDTF">2026-10-23T11:13:49Z</dcterms:modified>
  <cp:category/>
</cp:coreProperties>
</file>