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5" r:id="rId19"/>
    <p:sldId id="273" r:id="rId20"/>
    <p:sldId id="274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17" d="100"/>
          <a:sy n="117" d="100"/>
        </p:scale>
        <p:origin x="-31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49640" y="0"/>
            <a:ext cx="3639312" cy="6858000"/>
          </a:xfrm>
          <a:prstGeom prst="rect">
            <a:avLst/>
          </a:prstGeom>
          <a:solidFill>
            <a:srgbClr val="183556"/>
          </a:solidFill>
          <a:ln>
            <a:solidFill>
              <a:srgbClr val="183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823960" y="502920"/>
            <a:ext cx="16459" cy="5897880"/>
          </a:xfrm>
          <a:prstGeom prst="rect">
            <a:avLst/>
          </a:prstGeom>
          <a:solidFill>
            <a:srgbClr val="305376"/>
          </a:solidFill>
          <a:ln>
            <a:solidFill>
              <a:srgbClr val="305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326880" y="502920"/>
            <a:ext cx="16459" cy="5897880"/>
          </a:xfrm>
          <a:prstGeom prst="rect">
            <a:avLst/>
          </a:prstGeom>
          <a:solidFill>
            <a:srgbClr val="305376"/>
          </a:solidFill>
          <a:ln>
            <a:solidFill>
              <a:srgbClr val="305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829800" y="502920"/>
            <a:ext cx="16459" cy="5897880"/>
          </a:xfrm>
          <a:prstGeom prst="rect">
            <a:avLst/>
          </a:prstGeom>
          <a:solidFill>
            <a:srgbClr val="305376"/>
          </a:solidFill>
          <a:ln>
            <a:solidFill>
              <a:srgbClr val="305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332720" y="502920"/>
            <a:ext cx="16459" cy="5897880"/>
          </a:xfrm>
          <a:prstGeom prst="rect">
            <a:avLst/>
          </a:prstGeom>
          <a:solidFill>
            <a:srgbClr val="305376"/>
          </a:solidFill>
          <a:ln>
            <a:solidFill>
              <a:srgbClr val="305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835640" y="502920"/>
            <a:ext cx="16459" cy="5897880"/>
          </a:xfrm>
          <a:prstGeom prst="rect">
            <a:avLst/>
          </a:prstGeom>
          <a:solidFill>
            <a:srgbClr val="305376"/>
          </a:solidFill>
          <a:ln>
            <a:solidFill>
              <a:srgbClr val="305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338560" y="502920"/>
            <a:ext cx="16459" cy="5897880"/>
          </a:xfrm>
          <a:prstGeom prst="rect">
            <a:avLst/>
          </a:prstGeom>
          <a:solidFill>
            <a:srgbClr val="305376"/>
          </a:solidFill>
          <a:ln>
            <a:solidFill>
              <a:srgbClr val="305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640080"/>
            <a:ext cx="7132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82DCD3"/>
                </a:solidFill>
                <a:latin typeface="Aptos"/>
              </a:rPr>
              <a:t>UC13  ·  ENTERPRISE DATA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17320"/>
            <a:ext cx="7223760" cy="10972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Aptos"/>
              </a:rPr>
              <a:t>ENTERPRISE
PROCUREMENT DATA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713232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CCE0F1"/>
                </a:solidFill>
                <a:latin typeface="Aptos"/>
              </a:rPr>
              <a:t>Combined Sprint Review: 0–2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69080"/>
            <a:ext cx="694944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Aptos"/>
              </a:rPr>
              <a:t>Project Initiation  •  Data Ingestion  •  Data 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66360"/>
            <a:ext cx="7132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82DCD3"/>
                </a:solidFill>
                <a:latin typeface="Aptos"/>
              </a:rPr>
              <a:t>ABC Global Manufacturing Ltd.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828800"/>
            <a:ext cx="2331720" cy="2331720"/>
          </a:xfrm>
          <a:prstGeom prst="roundRect">
            <a:avLst>
              <a:gd name="adj" fmla="val 12000"/>
            </a:avLst>
          </a:prstGeom>
          <a:solidFill>
            <a:srgbClr val="1B8F8B"/>
          </a:solidFill>
          <a:ln>
            <a:solidFill>
              <a:srgbClr val="1B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0" y="2240280"/>
            <a:ext cx="19659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Aptos"/>
              </a:rPr>
              <a:t>SPRINTS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743200"/>
            <a:ext cx="196596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ptos"/>
              </a:rPr>
              <a:t>0  ·  1  · 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263640"/>
            <a:ext cx="59436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AB0C6"/>
                </a:solidFill>
                <a:latin typeface="Aptos"/>
              </a:rPr>
              <a:t>COMBINED PRESENTATION  |  20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36576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8F8B"/>
                </a:solidFill>
                <a:latin typeface="Aptos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9496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3233F"/>
                </a:solidFill>
                <a:latin typeface="Aptos"/>
              </a:rPr>
              <a:t>Three sprints, one delivery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11018520" cy="22860"/>
          </a:xfrm>
          <a:prstGeom prst="rect">
            <a:avLst/>
          </a:prstGeom>
          <a:solidFill>
            <a:srgbClr val="DAE2EB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7772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07086"/>
                </a:solidFill>
                <a:latin typeface="Aptos"/>
              </a:rPr>
              <a:t>ABC GLOBAL MANUFACTURING LTD.  |  ENTERPRISE PROCUREMENT DATA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07086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43040"/>
                </a:solidFill>
                <a:latin typeface="Aptos"/>
              </a:rPr>
              <a:t>The project progresses from defining the platform to landing data and improving data quality.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48840"/>
            <a:ext cx="3429000" cy="2057400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148840"/>
            <a:ext cx="64008" cy="2057400"/>
          </a:xfrm>
          <a:prstGeom prst="rect">
            <a:avLst/>
          </a:prstGeom>
          <a:solidFill>
            <a:srgbClr val="285CA0"/>
          </a:solidFill>
          <a:ln>
            <a:solidFill>
              <a:srgbClr val="28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295144"/>
            <a:ext cx="30632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3233F"/>
                </a:solidFill>
                <a:latin typeface="Aptos"/>
              </a:rPr>
              <a:t>SPRINT 0  |  DEFINE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697480"/>
            <a:ext cx="3063240" cy="143560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43040"/>
                </a:solidFill>
                <a:latin typeface="Aptos"/>
              </a:defRPr>
            </a:pPr>
            <a:r>
              <a:t>•  Business problem and scope</a:t>
            </a:r>
          </a:p>
          <a:p>
            <a:pPr>
              <a:spcAft>
                <a:spcPts val="500"/>
              </a:spcAft>
              <a:defRPr sz="1200">
                <a:solidFill>
                  <a:srgbClr val="243040"/>
                </a:solidFill>
                <a:latin typeface="Aptos"/>
              </a:defRPr>
            </a:pPr>
            <a:r>
              <a:t>•  Stakeholders and lifecycle</a:t>
            </a:r>
          </a:p>
          <a:p>
            <a:pPr>
              <a:spcAft>
                <a:spcPts val="500"/>
              </a:spcAft>
              <a:defRPr sz="1200">
                <a:solidFill>
                  <a:srgbClr val="243040"/>
                </a:solidFill>
                <a:latin typeface="Aptos"/>
              </a:defRPr>
            </a:pPr>
            <a:r>
              <a:t>•  Architecture and repository plan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148840"/>
            <a:ext cx="3429000" cy="2057400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2148840"/>
            <a:ext cx="64008" cy="2057400"/>
          </a:xfrm>
          <a:prstGeom prst="rect">
            <a:avLst/>
          </a:prstGeom>
          <a:solidFill>
            <a:srgbClr val="1B8F8B"/>
          </a:solidFill>
          <a:ln>
            <a:solidFill>
              <a:srgbClr val="1B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2295144"/>
            <a:ext cx="30632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3233F"/>
                </a:solidFill>
                <a:latin typeface="Aptos"/>
              </a:rPr>
              <a:t>SPRINT 1  |  INGEST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697480"/>
            <a:ext cx="3063240" cy="143560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43040"/>
                </a:solidFill>
                <a:latin typeface="Aptos"/>
              </a:defRPr>
            </a:pPr>
            <a:r>
              <a:t>•  Source discovery and data dictionary</a:t>
            </a:r>
          </a:p>
          <a:p>
            <a:pPr>
              <a:spcAft>
                <a:spcPts val="500"/>
              </a:spcAft>
              <a:defRPr sz="1200">
                <a:solidFill>
                  <a:srgbClr val="243040"/>
                </a:solidFill>
                <a:latin typeface="Aptos"/>
              </a:defRPr>
            </a:pPr>
            <a:r>
              <a:t>•  Pentaho multi-format ingestion</a:t>
            </a:r>
          </a:p>
          <a:p>
            <a:pPr>
              <a:spcAft>
                <a:spcPts val="500"/>
              </a:spcAft>
              <a:defRPr sz="1200">
                <a:solidFill>
                  <a:srgbClr val="243040"/>
                </a:solidFill>
                <a:latin typeface="Aptos"/>
              </a:defRPr>
            </a:pPr>
            <a:r>
              <a:t>•  PostgreSQL staging foundation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148840"/>
            <a:ext cx="3429000" cy="2057400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2148840"/>
            <a:ext cx="64008" cy="2057400"/>
          </a:xfrm>
          <a:prstGeom prst="rect">
            <a:avLst/>
          </a:prstGeom>
          <a:solidFill>
            <a:srgbClr val="277D57"/>
          </a:solidFill>
          <a:ln>
            <a:solidFill>
              <a:srgbClr val="277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2295144"/>
            <a:ext cx="30632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3233F"/>
                </a:solidFill>
                <a:latin typeface="Aptos"/>
              </a:rPr>
              <a:t>SPRINT 2  |  IMPROVE 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697480"/>
            <a:ext cx="3063240" cy="143560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43040"/>
                </a:solidFill>
                <a:latin typeface="Aptos"/>
              </a:defRPr>
            </a:pPr>
            <a:r>
              <a:t>•  Profile and cleanse six datasets</a:t>
            </a:r>
          </a:p>
          <a:p>
            <a:pPr>
              <a:spcAft>
                <a:spcPts val="500"/>
              </a:spcAft>
              <a:defRPr sz="1200">
                <a:solidFill>
                  <a:srgbClr val="243040"/>
                </a:solidFill>
                <a:latin typeface="Aptos"/>
              </a:defRPr>
            </a:pPr>
            <a:r>
              <a:t>•  Validate relationships and inventory rules</a:t>
            </a:r>
          </a:p>
          <a:p>
            <a:pPr>
              <a:spcAft>
                <a:spcPts val="500"/>
              </a:spcAft>
              <a:defRPr sz="1200">
                <a:solidFill>
                  <a:srgbClr val="243040"/>
                </a:solidFill>
                <a:latin typeface="Aptos"/>
              </a:defRPr>
            </a:pPr>
            <a:r>
              <a:t>•  Document findings and exceptions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00600"/>
            <a:ext cx="103327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13233F"/>
                </a:solidFill>
                <a:latin typeface="Aptos"/>
              </a:rPr>
              <a:t>Delivery principle: make data traceable first, then make it consistent and trustworthy.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36576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8F8B"/>
                </a:solidFill>
                <a:latin typeface="Aptos"/>
              </a:rPr>
              <a:t>SPRINT 0 · INITIATION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9496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3233F"/>
                </a:solidFill>
                <a:latin typeface="Aptos"/>
              </a:rPr>
              <a:t>Business background and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11018520" cy="22860"/>
          </a:xfrm>
          <a:prstGeom prst="rect">
            <a:avLst/>
          </a:prstGeom>
          <a:solidFill>
            <a:srgbClr val="DAE2EB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7772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07086"/>
                </a:solidFill>
                <a:latin typeface="Aptos"/>
              </a:rPr>
              <a:t>ABC GLOBAL MANUFACTURING LTD.  |  ENTERPRISE PROCUREMENT DATA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07086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12080" cy="1828800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64008" cy="1828800"/>
          </a:xfrm>
          <a:prstGeom prst="rect">
            <a:avLst/>
          </a:prstGeom>
          <a:solidFill>
            <a:srgbClr val="285CA0"/>
          </a:solidFill>
          <a:ln>
            <a:solidFill>
              <a:srgbClr val="28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655063"/>
            <a:ext cx="48463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3233F"/>
                </a:solidFill>
                <a:latin typeface="Aptos"/>
              </a:rPr>
              <a:t>BUSINESS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57400"/>
            <a:ext cx="4846320" cy="120700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43040"/>
                </a:solidFill>
                <a:latin typeface="Aptos"/>
              </a:defRPr>
            </a:pPr>
            <a:r>
              <a:t>•  Global sourcing across domestic and international suppliers</a:t>
            </a:r>
          </a:p>
          <a:p>
            <a:pPr>
              <a:spcAft>
                <a:spcPts val="500"/>
              </a:spcAft>
              <a:defRPr sz="1300">
                <a:solidFill>
                  <a:srgbClr val="243040"/>
                </a:solidFill>
                <a:latin typeface="Aptos"/>
              </a:defRPr>
            </a:pPr>
            <a:r>
              <a:t>•  Multiple systems cover procurement, ERP, vendors, warehouses, contracts and accounts payable</a:t>
            </a:r>
          </a:p>
          <a:p>
            <a:pPr>
              <a:spcAft>
                <a:spcPts val="500"/>
              </a:spcAft>
              <a:defRPr sz="1300">
                <a:solidFill>
                  <a:srgbClr val="243040"/>
                </a:solidFill>
                <a:latin typeface="Aptos"/>
              </a:defRPr>
            </a:pPr>
            <a:r>
              <a:t>•  Procurement lifecycle data is distributed across independent sources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08760"/>
            <a:ext cx="5212080" cy="1828800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508760"/>
            <a:ext cx="64008" cy="1828800"/>
          </a:xfrm>
          <a:prstGeom prst="rect">
            <a:avLst/>
          </a:prstGeom>
          <a:solidFill>
            <a:srgbClr val="A94949"/>
          </a:solidFill>
          <a:ln>
            <a:solidFill>
              <a:srgbClr val="A94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655063"/>
            <a:ext cx="48463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3233F"/>
                </a:solidFill>
                <a:latin typeface="Aptos"/>
              </a:rPr>
              <a:t>CORE PROBLEMS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057400"/>
            <a:ext cx="4846320" cy="120700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43040"/>
                </a:solidFill>
                <a:latin typeface="Aptos"/>
              </a:defRPr>
            </a:pPr>
            <a:r>
              <a:t>•  Supplier records can be duplicated or inconsistent</a:t>
            </a:r>
          </a:p>
          <a:p>
            <a:pPr>
              <a:spcAft>
                <a:spcPts val="500"/>
              </a:spcAft>
              <a:defRPr sz="1300">
                <a:solidFill>
                  <a:srgbClr val="243040"/>
                </a:solidFill>
                <a:latin typeface="Aptos"/>
              </a:defRPr>
            </a:pPr>
            <a:r>
              <a:t>•  Purchase orders, receipts and invoices are difficult to connect</a:t>
            </a:r>
          </a:p>
          <a:p>
            <a:pPr>
              <a:spcAft>
                <a:spcPts val="500"/>
              </a:spcAft>
              <a:defRPr sz="1300">
                <a:solidFill>
                  <a:srgbClr val="243040"/>
                </a:solidFill>
                <a:latin typeface="Aptos"/>
              </a:defRPr>
            </a:pPr>
            <a:r>
              <a:t>•  Supplier performance and contract compliance are hard to monitor</a:t>
            </a:r>
          </a:p>
          <a:p>
            <a:pPr>
              <a:spcAft>
                <a:spcPts val="500"/>
              </a:spcAft>
              <a:defRPr sz="1300">
                <a:solidFill>
                  <a:srgbClr val="243040"/>
                </a:solidFill>
                <a:latin typeface="Aptos"/>
              </a:defRPr>
            </a:pPr>
            <a:r>
              <a:t>•  Fragmented data limits timely decisions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69080"/>
            <a:ext cx="1033272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13233F"/>
                </a:solidFill>
                <a:latin typeface="Aptos"/>
              </a:rPr>
              <a:t>Business need: a unified, governed procurement data platform that consolidates heterogeneous data for reliable operational and executive analytics.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36576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8F8B"/>
                </a:solidFill>
                <a:latin typeface="Aptos"/>
              </a:rPr>
              <a:t>SPRINT 0 · INITIATION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9496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3233F"/>
                </a:solidFill>
                <a:latin typeface="Aptos"/>
              </a:rPr>
              <a:t>Project objectives and boundaries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11018520" cy="22860"/>
          </a:xfrm>
          <a:prstGeom prst="rect">
            <a:avLst/>
          </a:prstGeom>
          <a:solidFill>
            <a:srgbClr val="DAE2EB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7772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07086"/>
                </a:solidFill>
                <a:latin typeface="Aptos"/>
              </a:rPr>
              <a:t>ABC GLOBAL MANUFACTURING LTD.  |  ENTERPRISE PROCUREMENT DATA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07086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12080" cy="3566160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64008" cy="3566160"/>
          </a:xfrm>
          <a:prstGeom prst="rect">
            <a:avLst/>
          </a:prstGeom>
          <a:solidFill>
            <a:srgbClr val="1B8F8B"/>
          </a:solidFill>
          <a:ln>
            <a:solidFill>
              <a:srgbClr val="1B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655063"/>
            <a:ext cx="48463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3233F"/>
                </a:solidFill>
                <a:latin typeface="Aptos"/>
              </a:rP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57400"/>
            <a:ext cx="4846320" cy="29443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43040"/>
                </a:solidFill>
                <a:latin typeface="Aptos"/>
              </a:defRPr>
            </a:pPr>
            <a:r>
              <a:t>•  Collect data from heterogeneous enterprise sources</a:t>
            </a:r>
          </a:p>
          <a:p>
            <a:pPr>
              <a:spcAft>
                <a:spcPts val="500"/>
              </a:spcAft>
              <a:defRPr sz="1400">
                <a:solidFill>
                  <a:srgbClr val="243040"/>
                </a:solidFill>
                <a:latin typeface="Aptos"/>
              </a:defRPr>
            </a:pPr>
            <a:r>
              <a:t>•  Clean, validate and standardize procurement and supplier records</a:t>
            </a:r>
          </a:p>
          <a:p>
            <a:pPr>
              <a:spcAft>
                <a:spcPts val="500"/>
              </a:spcAft>
              <a:defRPr sz="1400">
                <a:solidFill>
                  <a:srgbClr val="243040"/>
                </a:solidFill>
                <a:latin typeface="Aptos"/>
              </a:defRPr>
            </a:pPr>
            <a:r>
              <a:t>•  Store curated data in a PostgreSQL data warehouse</a:t>
            </a:r>
          </a:p>
          <a:p>
            <a:pPr>
              <a:spcAft>
                <a:spcPts val="500"/>
              </a:spcAft>
              <a:defRPr sz="1400">
                <a:solidFill>
                  <a:srgbClr val="243040"/>
                </a:solidFill>
                <a:latin typeface="Aptos"/>
              </a:defRPr>
            </a:pPr>
            <a:r>
              <a:t>•  Maintain metadata, audit logs and data lineage</a:t>
            </a:r>
          </a:p>
          <a:p>
            <a:pPr>
              <a:spcAft>
                <a:spcPts val="500"/>
              </a:spcAft>
              <a:defRPr sz="1400">
                <a:solidFill>
                  <a:srgbClr val="243040"/>
                </a:solidFill>
                <a:latin typeface="Aptos"/>
              </a:defRPr>
            </a:pPr>
            <a:r>
              <a:t>•  Enable procurement, supplier, inventory and executive analytics</a:t>
            </a:r>
          </a:p>
          <a:p>
            <a:pPr>
              <a:spcAft>
                <a:spcPts val="500"/>
              </a:spcAft>
              <a:defRPr sz="1400">
                <a:solidFill>
                  <a:srgbClr val="243040"/>
                </a:solidFill>
                <a:latin typeface="Aptos"/>
              </a:defRPr>
            </a:pPr>
            <a:r>
              <a:t>•  Collaborate through Git/GitHub and structured documentation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08760"/>
            <a:ext cx="5212080" cy="3566160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508760"/>
            <a:ext cx="64008" cy="3566160"/>
          </a:xfrm>
          <a:prstGeom prst="rect">
            <a:avLst/>
          </a:prstGeom>
          <a:solidFill>
            <a:srgbClr val="285CA0"/>
          </a:solidFill>
          <a:ln>
            <a:solidFill>
              <a:srgbClr val="28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655063"/>
            <a:ext cx="48463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3233F"/>
                </a:solidFill>
                <a:latin typeface="Aptos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057400"/>
            <a:ext cx="4846320" cy="29443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43040"/>
                </a:solidFill>
                <a:latin typeface="Aptos"/>
              </a:defRPr>
            </a:pPr>
            <a:r>
              <a:t>•  In scope: procurement, suppliers, products, contracts, purchase orders, inventory, warehouses, invoices and supplier performance</a:t>
            </a:r>
          </a:p>
          <a:p>
            <a:pPr>
              <a:spcAft>
                <a:spcPts val="500"/>
              </a:spcAft>
              <a:defRPr sz="1400">
                <a:solidFill>
                  <a:srgbClr val="243040"/>
                </a:solidFill>
                <a:latin typeface="Aptos"/>
              </a:defRPr>
            </a:pPr>
            <a:r>
              <a:t>•  In scope: ingestion, staging, profiling, quality checks, warehouse modelling, lineage, dashboards, testing and documentation</a:t>
            </a:r>
          </a:p>
          <a:p>
            <a:pPr>
              <a:spcAft>
                <a:spcPts val="500"/>
              </a:spcAft>
              <a:defRPr sz="1400">
                <a:solidFill>
                  <a:srgbClr val="243040"/>
                </a:solidFill>
                <a:latin typeface="Aptos"/>
              </a:defRPr>
            </a:pPr>
            <a:r>
              <a:t>•  Prototype boundary: representative datasets demonstrate the design</a:t>
            </a:r>
          </a:p>
          <a:p>
            <a:pPr>
              <a:spcAft>
                <a:spcPts val="500"/>
              </a:spcAft>
              <a:defRPr sz="1400">
                <a:solidFill>
                  <a:srgbClr val="243040"/>
                </a:solidFill>
                <a:latin typeface="Aptos"/>
              </a:defRPr>
            </a:pPr>
            <a:r>
              <a:t>•  Out of scope: direct connection to live production systems and real enterprise transactions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36576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8F8B"/>
                </a:solidFill>
                <a:latin typeface="Aptos"/>
              </a:rPr>
              <a:t>SPRINT 0 · INITIATION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9496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3233F"/>
                </a:solidFill>
                <a:latin typeface="Aptos"/>
              </a:rPr>
              <a:t>Stakeholders and procurement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11018520" cy="22860"/>
          </a:xfrm>
          <a:prstGeom prst="rect">
            <a:avLst/>
          </a:prstGeom>
          <a:solidFill>
            <a:srgbClr val="DAE2EB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7772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07086"/>
                </a:solidFill>
                <a:latin typeface="Aptos"/>
              </a:rPr>
              <a:t>ABC GLOBAL MANUFACTURING LTD.  |  ENTERPRISE PROCUREMENT DATA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07086"/>
                </a:solidFill>
                <a:latin typeface="Aptos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2560320" cy="448056"/>
          </a:xfrm>
          <a:prstGeom prst="rect">
            <a:avLst/>
          </a:prstGeom>
          <a:solidFill>
            <a:srgbClr val="13233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481328"/>
            <a:ext cx="2414015" cy="3566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Stakeholder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39" y="1417320"/>
            <a:ext cx="8138160" cy="448056"/>
          </a:xfrm>
          <a:prstGeom prst="rect">
            <a:avLst/>
          </a:prstGeom>
          <a:solidFill>
            <a:srgbClr val="13233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64991" y="1481328"/>
            <a:ext cx="7991856" cy="3566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Primary information need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865376"/>
            <a:ext cx="2560320" cy="448056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1929384"/>
            <a:ext cx="2414015" cy="3566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Procurement team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39" y="1865376"/>
            <a:ext cx="8138160" cy="448056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64991" y="1929384"/>
            <a:ext cx="7991856" cy="3566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Purchase orders, cycle time and supplier analysis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313432"/>
            <a:ext cx="2560320" cy="448056"/>
          </a:xfrm>
          <a:prstGeom prst="rect">
            <a:avLst/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2377440"/>
            <a:ext cx="2414015" cy="3566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Supplier management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39" y="2313432"/>
            <a:ext cx="8138160" cy="448056"/>
          </a:xfrm>
          <a:prstGeom prst="rect">
            <a:avLst/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64991" y="2377440"/>
            <a:ext cx="7991856" cy="3566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Ratings, delivery reliability, quality and compliance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761488"/>
            <a:ext cx="2560320" cy="448056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" y="2825496"/>
            <a:ext cx="2414015" cy="3566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Warehouse / inventory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39" y="2761488"/>
            <a:ext cx="8138160" cy="448056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64991" y="2825496"/>
            <a:ext cx="7991856" cy="3566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Stock levels, replenishment and warehouse visibility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209544"/>
            <a:ext cx="2560320" cy="448056"/>
          </a:xfrm>
          <a:prstGeom prst="rect">
            <a:avLst/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2" y="3273551"/>
            <a:ext cx="2414015" cy="3566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Accounts Payable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39" y="3209544"/>
            <a:ext cx="8138160" cy="448056"/>
          </a:xfrm>
          <a:prstGeom prst="rect">
            <a:avLst/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64991" y="3273551"/>
            <a:ext cx="7991856" cy="3566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Invoice and payment status, outstanding and overdue items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657600"/>
            <a:ext cx="2560320" cy="448056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4672" y="3721608"/>
            <a:ext cx="2414015" cy="3566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Executives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91839" y="3657600"/>
            <a:ext cx="8138160" cy="448056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364991" y="3721608"/>
            <a:ext cx="7991856" cy="3566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Trusted KPIs and consolidated reporting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105656"/>
            <a:ext cx="2560320" cy="448056"/>
          </a:xfrm>
          <a:prstGeom prst="rect">
            <a:avLst/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4672" y="4169664"/>
            <a:ext cx="2414015" cy="3566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Data / IT team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91839" y="4105656"/>
            <a:ext cx="8138160" cy="448056"/>
          </a:xfrm>
          <a:prstGeom prst="rect">
            <a:avLst/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364991" y="4169664"/>
            <a:ext cx="7991856" cy="3566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Reliable pipelines, governance, lineage and support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4800600"/>
            <a:ext cx="1325880" cy="658368"/>
          </a:xfrm>
          <a:prstGeom prst="roundRect">
            <a:avLst>
              <a:gd name="adj" fmla="val 12000"/>
            </a:avLst>
          </a:prstGeom>
          <a:solidFill>
            <a:srgbClr val="1B8F8B"/>
          </a:solidFill>
          <a:ln>
            <a:solidFill>
              <a:srgbClr val="1B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2960" y="4965192"/>
            <a:ext cx="12344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Requirement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103120" y="5129784"/>
            <a:ext cx="210312" cy="0"/>
          </a:xfrm>
          <a:prstGeom prst="line">
            <a:avLst/>
          </a:prstGeom>
          <a:ln w="25400">
            <a:solidFill>
              <a:srgbClr val="1B8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2350008" y="4800600"/>
            <a:ext cx="1325880" cy="658368"/>
          </a:xfrm>
          <a:prstGeom prst="roundRect">
            <a:avLst>
              <a:gd name="adj" fmla="val 12000"/>
            </a:avLst>
          </a:prstGeom>
          <a:solidFill>
            <a:srgbClr val="285CA0"/>
          </a:solidFill>
          <a:ln>
            <a:solidFill>
              <a:srgbClr val="1B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395727" y="4965192"/>
            <a:ext cx="12344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Requisition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675887" y="5129784"/>
            <a:ext cx="210313" cy="0"/>
          </a:xfrm>
          <a:prstGeom prst="line">
            <a:avLst/>
          </a:prstGeom>
          <a:ln w="25400">
            <a:solidFill>
              <a:srgbClr val="1B8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3922776" y="4800600"/>
            <a:ext cx="1325880" cy="658368"/>
          </a:xfrm>
          <a:prstGeom prst="roundRect">
            <a:avLst>
              <a:gd name="adj" fmla="val 12000"/>
            </a:avLst>
          </a:prstGeom>
          <a:solidFill>
            <a:srgbClr val="285CA0"/>
          </a:solidFill>
          <a:ln>
            <a:solidFill>
              <a:srgbClr val="1B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968496" y="4965192"/>
            <a:ext cx="12344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Approval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248656" y="5129784"/>
            <a:ext cx="210312" cy="0"/>
          </a:xfrm>
          <a:prstGeom prst="line">
            <a:avLst/>
          </a:prstGeom>
          <a:ln w="25400">
            <a:solidFill>
              <a:srgbClr val="1B8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5495544" y="4800600"/>
            <a:ext cx="1325880" cy="658368"/>
          </a:xfrm>
          <a:prstGeom prst="roundRect">
            <a:avLst>
              <a:gd name="adj" fmla="val 12000"/>
            </a:avLst>
          </a:prstGeom>
          <a:solidFill>
            <a:srgbClr val="1B8F8B"/>
          </a:solidFill>
          <a:ln>
            <a:solidFill>
              <a:srgbClr val="1B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541264" y="4965192"/>
            <a:ext cx="12344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Supplier /
Contract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821424" y="5129784"/>
            <a:ext cx="210312" cy="0"/>
          </a:xfrm>
          <a:prstGeom prst="line">
            <a:avLst/>
          </a:prstGeom>
          <a:ln w="25400">
            <a:solidFill>
              <a:srgbClr val="1B8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7068312" y="4800600"/>
            <a:ext cx="1325880" cy="658368"/>
          </a:xfrm>
          <a:prstGeom prst="roundRect">
            <a:avLst>
              <a:gd name="adj" fmla="val 12000"/>
            </a:avLst>
          </a:prstGeom>
          <a:solidFill>
            <a:srgbClr val="285CA0"/>
          </a:solidFill>
          <a:ln>
            <a:solidFill>
              <a:srgbClr val="1B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114031" y="4965192"/>
            <a:ext cx="12344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Purchase
Order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394192" y="5129784"/>
            <a:ext cx="210312" cy="0"/>
          </a:xfrm>
          <a:prstGeom prst="line">
            <a:avLst/>
          </a:prstGeom>
          <a:ln w="25400">
            <a:solidFill>
              <a:srgbClr val="1B8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8641080" y="4800600"/>
            <a:ext cx="1325880" cy="658368"/>
          </a:xfrm>
          <a:prstGeom prst="roundRect">
            <a:avLst>
              <a:gd name="adj" fmla="val 12000"/>
            </a:avLst>
          </a:prstGeom>
          <a:solidFill>
            <a:srgbClr val="285CA0"/>
          </a:solidFill>
          <a:ln>
            <a:solidFill>
              <a:srgbClr val="1B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686800" y="4965192"/>
            <a:ext cx="12344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Delivery /
Receipt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966959" y="5129784"/>
            <a:ext cx="210313" cy="0"/>
          </a:xfrm>
          <a:prstGeom prst="line">
            <a:avLst/>
          </a:prstGeom>
          <a:ln w="25400">
            <a:solidFill>
              <a:srgbClr val="1B8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10213848" y="4800600"/>
            <a:ext cx="1325880" cy="658368"/>
          </a:xfrm>
          <a:prstGeom prst="roundRect">
            <a:avLst>
              <a:gd name="adj" fmla="val 12000"/>
            </a:avLst>
          </a:prstGeom>
          <a:solidFill>
            <a:srgbClr val="1B8F8B"/>
          </a:solidFill>
          <a:ln>
            <a:solidFill>
              <a:srgbClr val="1B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259568" y="4965192"/>
            <a:ext cx="12344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Invoice /
Payment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" y="5715000"/>
            <a:ext cx="103327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607086"/>
                </a:solidFill>
                <a:latin typeface="Aptos"/>
              </a:rPr>
              <a:t>The platform is intended to connect these events for end-to-end traceability.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928" y="164592"/>
            <a:ext cx="5618144" cy="65288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36576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8F8B"/>
                </a:solidFill>
                <a:latin typeface="Aptos"/>
              </a:rPr>
              <a:t>SPRINT 0 ·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9496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3233F"/>
                </a:solidFill>
                <a:latin typeface="Aptos"/>
              </a:rPr>
              <a:t>Technology stack and repository organization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11018520" cy="22860"/>
          </a:xfrm>
          <a:prstGeom prst="rect">
            <a:avLst/>
          </a:prstGeom>
          <a:solidFill>
            <a:srgbClr val="DAE2EB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7772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07086"/>
                </a:solidFill>
                <a:latin typeface="Aptos"/>
              </a:rPr>
              <a:t>ABC GLOBAL MANUFACTURING LTD.  |  ENTERPRISE PROCUREMENT DATA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07086"/>
                </a:solidFill>
                <a:latin typeface="Aptos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2057400" cy="502920"/>
          </a:xfrm>
          <a:prstGeom prst="rect">
            <a:avLst/>
          </a:prstGeom>
          <a:solidFill>
            <a:srgbClr val="13233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481328"/>
            <a:ext cx="1911095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Area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20" y="1417320"/>
            <a:ext cx="2880360" cy="502920"/>
          </a:xfrm>
          <a:prstGeom prst="rect">
            <a:avLst/>
          </a:prstGeom>
          <a:solidFill>
            <a:srgbClr val="13233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62072" y="1481328"/>
            <a:ext cx="2734056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Technology / folder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79" y="1417320"/>
            <a:ext cx="5760720" cy="502920"/>
          </a:xfrm>
          <a:prstGeom prst="rect">
            <a:avLst/>
          </a:prstGeom>
          <a:solidFill>
            <a:srgbClr val="13233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42431" y="1481328"/>
            <a:ext cx="5614416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Purpose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1920240"/>
            <a:ext cx="2057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2" y="1984248"/>
            <a:ext cx="1911095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ETL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88920" y="1920240"/>
            <a:ext cx="28803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62072" y="1984248"/>
            <a:ext cx="2734056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Pentaho Data Integration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79" y="1920240"/>
            <a:ext cx="57607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42431" y="1984248"/>
            <a:ext cx="5614416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Extract, transform, validate and load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423160"/>
            <a:ext cx="2057400" cy="502920"/>
          </a:xfrm>
          <a:prstGeom prst="rect">
            <a:avLst/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" y="2487168"/>
            <a:ext cx="1911095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Database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88920" y="2423160"/>
            <a:ext cx="2880360" cy="502920"/>
          </a:xfrm>
          <a:prstGeom prst="rect">
            <a:avLst/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862072" y="2487168"/>
            <a:ext cx="2734056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PostgreSQL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79" y="2423160"/>
            <a:ext cx="5760720" cy="502920"/>
          </a:xfrm>
          <a:prstGeom prst="rect">
            <a:avLst/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42431" y="2487168"/>
            <a:ext cx="5614416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Staging, warehouse, marts, logs and metadata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2926080"/>
            <a:ext cx="2057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4672" y="2990088"/>
            <a:ext cx="1911095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Programming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88920" y="2926080"/>
            <a:ext cx="28803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862072" y="2990088"/>
            <a:ext cx="2734056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Python / Pandas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79" y="2926080"/>
            <a:ext cx="57607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742431" y="2990088"/>
            <a:ext cx="5614416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Profiling, cleansing and analysis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3429000"/>
            <a:ext cx="2057400" cy="502920"/>
          </a:xfrm>
          <a:prstGeom prst="rect">
            <a:avLst/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4672" y="3493008"/>
            <a:ext cx="1911095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Reporting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88920" y="3429000"/>
            <a:ext cx="2880360" cy="502920"/>
          </a:xfrm>
          <a:prstGeom prst="rect">
            <a:avLst/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862072" y="3493008"/>
            <a:ext cx="2734056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Power BI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79" y="3429000"/>
            <a:ext cx="5760720" cy="502920"/>
          </a:xfrm>
          <a:prstGeom prst="rect">
            <a:avLst/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742431" y="3493008"/>
            <a:ext cx="5614416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Dashboards and executive reporting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3931920"/>
            <a:ext cx="2057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04672" y="3995928"/>
            <a:ext cx="1911095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Version control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88920" y="3931920"/>
            <a:ext cx="28803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862072" y="3995928"/>
            <a:ext cx="2734056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Git / GitHub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79" y="3931920"/>
            <a:ext cx="57607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742431" y="3995928"/>
            <a:ext cx="5614416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Collaboration, history and releases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4434840"/>
            <a:ext cx="2057400" cy="502920"/>
          </a:xfrm>
          <a:prstGeom prst="rect">
            <a:avLst/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04672" y="4498848"/>
            <a:ext cx="1911095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Project artifacts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88920" y="4434840"/>
            <a:ext cx="2880360" cy="502920"/>
          </a:xfrm>
          <a:prstGeom prst="rect">
            <a:avLst/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862072" y="4498848"/>
            <a:ext cx="2734056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docs/, datasets/, pentaho/, python/, tests/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79" y="4434840"/>
            <a:ext cx="5760720" cy="502920"/>
          </a:xfrm>
          <a:prstGeom prst="rect">
            <a:avLst/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742431" y="4498848"/>
            <a:ext cx="5614416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Documentation, sources, pipelines and validation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5486400"/>
            <a:ext cx="104241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B8F8B"/>
                </a:solidFill>
                <a:latin typeface="Aptos"/>
              </a:rPr>
              <a:t>Sprint 0 deliverables: BRD, architecture, project charter, repository structure and sprint backlogs.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36576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8F8B"/>
                </a:solidFill>
                <a:latin typeface="Aptos"/>
              </a:rPr>
              <a:t>SPRINT 0 ·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9496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3233F"/>
                </a:solidFill>
                <a:latin typeface="Aptos"/>
              </a:rPr>
              <a:t>Sprint 0 deliverables and exit criteria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11018520" cy="22860"/>
          </a:xfrm>
          <a:prstGeom prst="rect">
            <a:avLst/>
          </a:prstGeom>
          <a:solidFill>
            <a:srgbClr val="DAE2EB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7772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07086"/>
                </a:solidFill>
                <a:latin typeface="Aptos"/>
              </a:rPr>
              <a:t>ABC GLOBAL MANUFACTURING LTD.  |  ENTERPRISE PROCUREMENT DATA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07086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54480"/>
            <a:ext cx="5074920" cy="3291840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554480"/>
            <a:ext cx="64008" cy="3291840"/>
          </a:xfrm>
          <a:prstGeom prst="rect">
            <a:avLst/>
          </a:prstGeom>
          <a:solidFill>
            <a:srgbClr val="285CA0"/>
          </a:solidFill>
          <a:ln>
            <a:solidFill>
              <a:srgbClr val="28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1700784"/>
            <a:ext cx="47091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3233F"/>
                </a:solidFill>
                <a:latin typeface="Aptos"/>
              </a:rPr>
              <a:t>FOUNDATION ARTIFACTS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103120"/>
            <a:ext cx="4709159" cy="2670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43040"/>
                </a:solidFill>
                <a:latin typeface="Aptos"/>
              </a:defRPr>
            </a:pPr>
            <a:r>
              <a:t>•  Business Requirement Document (BRD)</a:t>
            </a:r>
          </a:p>
          <a:p>
            <a:pPr>
              <a:spcAft>
                <a:spcPts val="500"/>
              </a:spcAft>
              <a:defRPr sz="1400">
                <a:solidFill>
                  <a:srgbClr val="243040"/>
                </a:solidFill>
                <a:latin typeface="Aptos"/>
              </a:defRPr>
            </a:pPr>
            <a:r>
              <a:t>•  Solution architecture diagram and architecture document</a:t>
            </a:r>
          </a:p>
          <a:p>
            <a:pPr>
              <a:spcAft>
                <a:spcPts val="500"/>
              </a:spcAft>
              <a:defRPr sz="1400">
                <a:solidFill>
                  <a:srgbClr val="243040"/>
                </a:solidFill>
                <a:latin typeface="Aptos"/>
              </a:defRPr>
            </a:pPr>
            <a:r>
              <a:t>•  GitHub repository with organized project folders</a:t>
            </a:r>
          </a:p>
          <a:p>
            <a:pPr>
              <a:spcAft>
                <a:spcPts val="500"/>
              </a:spcAft>
              <a:defRPr sz="1400">
                <a:solidFill>
                  <a:srgbClr val="243040"/>
                </a:solidFill>
                <a:latin typeface="Aptos"/>
              </a:defRPr>
            </a:pPr>
            <a:r>
              <a:t>•  Product backlog and sprint backlog</a:t>
            </a:r>
          </a:p>
          <a:p>
            <a:pPr>
              <a:spcAft>
                <a:spcPts val="500"/>
              </a:spcAft>
              <a:defRPr sz="1400">
                <a:solidFill>
                  <a:srgbClr val="243040"/>
                </a:solidFill>
                <a:latin typeface="Aptos"/>
              </a:defRPr>
            </a:pPr>
            <a:r>
              <a:t>•  Project charter: scope, stakeholders, assumptions, risks and success criteria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074920" cy="3291840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554480"/>
            <a:ext cx="64008" cy="3291840"/>
          </a:xfrm>
          <a:prstGeom prst="rect">
            <a:avLst/>
          </a:prstGeom>
          <a:solidFill>
            <a:srgbClr val="277D57"/>
          </a:solidFill>
          <a:ln>
            <a:solidFill>
              <a:srgbClr val="277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700784"/>
            <a:ext cx="47091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3233F"/>
                </a:solidFill>
                <a:latin typeface="Aptos"/>
              </a:rPr>
              <a:t>READY FOR DEVELOPMENT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103120"/>
            <a:ext cx="4709159" cy="2670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43040"/>
                </a:solidFill>
                <a:latin typeface="Aptos"/>
              </a:defRPr>
            </a:pPr>
            <a:r>
              <a:t>•  Business problem and intended outcomes documented</a:t>
            </a:r>
          </a:p>
          <a:p>
            <a:pPr>
              <a:spcAft>
                <a:spcPts val="500"/>
              </a:spcAft>
              <a:defRPr sz="1400">
                <a:solidFill>
                  <a:srgbClr val="243040"/>
                </a:solidFill>
                <a:latin typeface="Aptos"/>
              </a:defRPr>
            </a:pPr>
            <a:r>
              <a:t>•  Source domains and stakeholders identified</a:t>
            </a:r>
          </a:p>
          <a:p>
            <a:pPr>
              <a:spcAft>
                <a:spcPts val="500"/>
              </a:spcAft>
              <a:defRPr sz="1400">
                <a:solidFill>
                  <a:srgbClr val="243040"/>
                </a:solidFill>
                <a:latin typeface="Aptos"/>
              </a:defRPr>
            </a:pPr>
            <a:r>
              <a:t>•  Target architecture and technology stack selected</a:t>
            </a:r>
          </a:p>
          <a:p>
            <a:pPr>
              <a:spcAft>
                <a:spcPts val="500"/>
              </a:spcAft>
              <a:defRPr sz="1400">
                <a:solidFill>
                  <a:srgbClr val="243040"/>
                </a:solidFill>
                <a:latin typeface="Aptos"/>
              </a:defRPr>
            </a:pPr>
            <a:r>
              <a:t>•  Delivery process and repository organization established</a:t>
            </a:r>
          </a:p>
          <a:p>
            <a:pPr>
              <a:spcAft>
                <a:spcPts val="500"/>
              </a:spcAft>
              <a:defRPr sz="1400">
                <a:solidFill>
                  <a:srgbClr val="243040"/>
                </a:solidFill>
                <a:latin typeface="Aptos"/>
              </a:defRPr>
            </a:pPr>
            <a:r>
              <a:t>•  Sprint 1 begins with source discovery and raw-data ingestion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49240"/>
            <a:ext cx="101498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3233F"/>
                </a:solidFill>
                <a:latin typeface="Aptos"/>
              </a:rPr>
              <a:t>Sprint 0 conclusion: the project direction and implementation foundation were established.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36576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8F8B"/>
                </a:solidFill>
                <a:latin typeface="Aptos"/>
              </a:rPr>
              <a:t>SPRINT 1 · INGESTION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9496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3233F"/>
                </a:solidFill>
                <a:latin typeface="Aptos"/>
              </a:rPr>
              <a:t>Sprint 1: source discovery and ingestion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11018520" cy="22860"/>
          </a:xfrm>
          <a:prstGeom prst="rect">
            <a:avLst/>
          </a:prstGeom>
          <a:solidFill>
            <a:srgbClr val="DAE2EB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7772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07086"/>
                </a:solidFill>
                <a:latin typeface="Aptos"/>
              </a:rPr>
              <a:t>ABC GLOBAL MANUFACTURING LTD.  |  ENTERPRISE PROCUREMENT DATA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07086"/>
                </a:solidFill>
                <a:latin typeface="Aptos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3233F"/>
                </a:solidFill>
                <a:latin typeface="Aptos"/>
              </a:rPr>
              <a:t>Sprint 1 established the raw-data landing zone and documented how heterogeneous source data enters the platform.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77440"/>
            <a:ext cx="3429000" cy="2240280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2377440"/>
            <a:ext cx="64008" cy="2240280"/>
          </a:xfrm>
          <a:prstGeom prst="rect">
            <a:avLst/>
          </a:prstGeom>
          <a:solidFill>
            <a:srgbClr val="285CA0"/>
          </a:solidFill>
          <a:ln>
            <a:solidFill>
              <a:srgbClr val="28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" y="2523744"/>
            <a:ext cx="30632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3233F"/>
                </a:solidFill>
                <a:latin typeface="Aptos"/>
              </a:rPr>
              <a:t>DISCOVER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926080"/>
            <a:ext cx="3063240" cy="16184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43040"/>
                </a:solidFill>
                <a:latin typeface="Aptos"/>
              </a:defRPr>
            </a:pPr>
            <a:r>
              <a:t>•  Identify source datasets and business domains</a:t>
            </a:r>
          </a:p>
          <a:p>
            <a:pPr>
              <a:spcAft>
                <a:spcPts val="500"/>
              </a:spcAft>
              <a:defRPr sz="1200">
                <a:solidFill>
                  <a:srgbClr val="243040"/>
                </a:solidFill>
                <a:latin typeface="Aptos"/>
              </a:defRPr>
            </a:pPr>
            <a:r>
              <a:t>•  Document schemas, fields and data types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377440"/>
            <a:ext cx="3429000" cy="2240280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2377440"/>
            <a:ext cx="64008" cy="2240280"/>
          </a:xfrm>
          <a:prstGeom prst="rect">
            <a:avLst/>
          </a:prstGeom>
          <a:solidFill>
            <a:srgbClr val="1B8F8B"/>
          </a:solidFill>
          <a:ln>
            <a:solidFill>
              <a:srgbClr val="1B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2523744"/>
            <a:ext cx="30632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3233F"/>
                </a:solidFill>
                <a:latin typeface="Aptos"/>
              </a:rPr>
              <a:t>INGEST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926080"/>
            <a:ext cx="3063240" cy="16184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43040"/>
                </a:solidFill>
                <a:latin typeface="Aptos"/>
              </a:defRPr>
            </a:pPr>
            <a:r>
              <a:t>•  Use Pentaho input steps for CSV, Excel, JSON and XML</a:t>
            </a:r>
          </a:p>
          <a:p>
            <a:pPr>
              <a:spcAft>
                <a:spcPts val="500"/>
              </a:spcAft>
              <a:defRPr sz="1200">
                <a:solidFill>
                  <a:srgbClr val="243040"/>
                </a:solidFill>
                <a:latin typeface="Aptos"/>
              </a:defRPr>
            </a:pPr>
            <a:r>
              <a:t>•  Load source records to PostgreSQL staging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2377440"/>
            <a:ext cx="3429000" cy="2240280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01000" y="2377440"/>
            <a:ext cx="64008" cy="2240280"/>
          </a:xfrm>
          <a:prstGeom prst="rect">
            <a:avLst/>
          </a:prstGeom>
          <a:solidFill>
            <a:srgbClr val="277D57"/>
          </a:solidFill>
          <a:ln>
            <a:solidFill>
              <a:srgbClr val="277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02168" y="2523744"/>
            <a:ext cx="30632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3233F"/>
                </a:solidFill>
                <a:latin typeface="Aptos"/>
              </a:rPr>
              <a:t>OBSERVE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2926080"/>
            <a:ext cx="3063240" cy="16184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43040"/>
                </a:solidFill>
                <a:latin typeface="Aptos"/>
              </a:defRPr>
            </a:pPr>
            <a:r>
              <a:t>•  Track execution and record counts</a:t>
            </a:r>
          </a:p>
          <a:p>
            <a:pPr>
              <a:spcAft>
                <a:spcPts val="500"/>
              </a:spcAft>
              <a:defRPr sz="1200">
                <a:solidFill>
                  <a:srgbClr val="243040"/>
                </a:solidFill>
                <a:latin typeface="Aptos"/>
              </a:defRPr>
            </a:pPr>
            <a:r>
              <a:t>•  Capture malformed records and exceptions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166360"/>
            <a:ext cx="104241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607086"/>
                </a:solidFill>
                <a:latin typeface="Aptos"/>
              </a:rPr>
              <a:t>Sprint 1 focus: reliable raw landing—not heavy business transformations or final analytics.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36576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8F8B"/>
                </a:solidFill>
                <a:latin typeface="Aptos"/>
              </a:rPr>
              <a:t>SPRINT 1 · SOURCE INVENTORY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9496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3233F"/>
                </a:solidFill>
                <a:latin typeface="Aptos"/>
              </a:rPr>
              <a:t>Heterogeneous source formats and datasets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11018520" cy="22860"/>
          </a:xfrm>
          <a:prstGeom prst="rect">
            <a:avLst/>
          </a:prstGeom>
          <a:solidFill>
            <a:srgbClr val="DAE2EB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7772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07086"/>
                </a:solidFill>
                <a:latin typeface="Aptos"/>
              </a:rPr>
              <a:t>ABC GLOBAL MANUFACTURING LTD.  |  ENTERPRISE PROCUREMENT DATA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07086"/>
                </a:solidFill>
                <a:latin typeface="Aptos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920240" cy="585216"/>
          </a:xfrm>
          <a:prstGeom prst="rect">
            <a:avLst/>
          </a:prstGeom>
          <a:solidFill>
            <a:srgbClr val="13233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481328"/>
            <a:ext cx="1773936" cy="4937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Format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417320"/>
            <a:ext cx="2880360" cy="585216"/>
          </a:xfrm>
          <a:prstGeom prst="rect">
            <a:avLst/>
          </a:prstGeom>
          <a:solidFill>
            <a:srgbClr val="13233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24912" y="1481328"/>
            <a:ext cx="2734056" cy="4937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Dataset examples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32120" y="1417320"/>
            <a:ext cx="2926080" cy="585216"/>
          </a:xfrm>
          <a:prstGeom prst="rect">
            <a:avLst/>
          </a:prstGeom>
          <a:solidFill>
            <a:srgbClr val="13233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05272" y="1481328"/>
            <a:ext cx="2779776" cy="4937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Pentaho input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58200" y="1417320"/>
            <a:ext cx="2971800" cy="585216"/>
          </a:xfrm>
          <a:prstGeom prst="rect">
            <a:avLst/>
          </a:prstGeom>
          <a:solidFill>
            <a:srgbClr val="13233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31352" y="1481328"/>
            <a:ext cx="2825496" cy="4937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Source domain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002536"/>
            <a:ext cx="1920240" cy="585216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2066543"/>
            <a:ext cx="1773936" cy="4937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CSV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2002536"/>
            <a:ext cx="2880360" cy="585216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24912" y="2066543"/>
            <a:ext cx="2734056" cy="4937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Suppliers, contracts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2002536"/>
            <a:ext cx="2926080" cy="585216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05272" y="2066543"/>
            <a:ext cx="2779776" cy="4937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CSV File Input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58200" y="2002536"/>
            <a:ext cx="2971800" cy="585216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31352" y="2066543"/>
            <a:ext cx="2825496" cy="4937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Supplier / contract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2587752"/>
            <a:ext cx="1920240" cy="585216"/>
          </a:xfrm>
          <a:prstGeom prst="rect">
            <a:avLst/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2" y="2651760"/>
            <a:ext cx="1773936" cy="4937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Excel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51760" y="2587752"/>
            <a:ext cx="2880360" cy="585216"/>
          </a:xfrm>
          <a:prstGeom prst="rect">
            <a:avLst/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24912" y="2651760"/>
            <a:ext cx="2734056" cy="4937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Purchase orders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32120" y="2587752"/>
            <a:ext cx="2926080" cy="585216"/>
          </a:xfrm>
          <a:prstGeom prst="rect">
            <a:avLst/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05272" y="2651760"/>
            <a:ext cx="2779776" cy="4937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Microsoft Excel Input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58200" y="2587752"/>
            <a:ext cx="2971800" cy="585216"/>
          </a:xfrm>
          <a:prstGeom prst="rect">
            <a:avLst/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31352" y="2651760"/>
            <a:ext cx="2825496" cy="4937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Procurement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3172968"/>
            <a:ext cx="1920240" cy="585216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4672" y="3236975"/>
            <a:ext cx="1773936" cy="4937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JSON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3172968"/>
            <a:ext cx="2880360" cy="585216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724912" y="3236975"/>
            <a:ext cx="2734056" cy="4937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Inventory, warehouse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32120" y="3172968"/>
            <a:ext cx="2926080" cy="585216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05272" y="3236975"/>
            <a:ext cx="2779776" cy="4937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JSON Input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58200" y="3172968"/>
            <a:ext cx="2971800" cy="585216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531352" y="3236975"/>
            <a:ext cx="2825496" cy="4937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Inventory / warehouse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3758184"/>
            <a:ext cx="1920240" cy="585216"/>
          </a:xfrm>
          <a:prstGeom prst="rect">
            <a:avLst/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04672" y="3822192"/>
            <a:ext cx="1773936" cy="4937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XML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51760" y="3758184"/>
            <a:ext cx="2880360" cy="585216"/>
          </a:xfrm>
          <a:prstGeom prst="rect">
            <a:avLst/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724912" y="3822192"/>
            <a:ext cx="2734056" cy="4937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Invoices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32120" y="3758184"/>
            <a:ext cx="2926080" cy="585216"/>
          </a:xfrm>
          <a:prstGeom prst="rect">
            <a:avLst/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605272" y="3822192"/>
            <a:ext cx="2779776" cy="4937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Get Data from XML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8200" y="3758184"/>
            <a:ext cx="2971800" cy="585216"/>
          </a:xfrm>
          <a:prstGeom prst="rect">
            <a:avLst/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531352" y="3822192"/>
            <a:ext cx="2825496" cy="4937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Accounts payable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" y="4343400"/>
            <a:ext cx="1920240" cy="585216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04672" y="4407408"/>
            <a:ext cx="1773936" cy="4937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SQL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51760" y="4343400"/>
            <a:ext cx="2880360" cy="585216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724912" y="4407408"/>
            <a:ext cx="2734056" cy="4937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Database extracts (where applicable)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32120" y="4343400"/>
            <a:ext cx="2926080" cy="585216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605272" y="4407408"/>
            <a:ext cx="2779776" cy="4937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Table Input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8200" y="4343400"/>
            <a:ext cx="2971800" cy="585216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531352" y="4407408"/>
            <a:ext cx="2825496" cy="4937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Enterprise data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2960" y="4983480"/>
            <a:ext cx="10424160" cy="749808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822960" y="4983480"/>
            <a:ext cx="64008" cy="749808"/>
          </a:xfrm>
          <a:prstGeom prst="rect">
            <a:avLst/>
          </a:prstGeom>
          <a:solidFill>
            <a:srgbClr val="1B8F8B"/>
          </a:solidFill>
          <a:ln>
            <a:solidFill>
              <a:srgbClr val="1B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24128" y="5129784"/>
            <a:ext cx="100584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3233F"/>
                </a:solidFill>
                <a:latin typeface="Aptos"/>
              </a:rPr>
              <a:t>WHY IT MATTERS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4128" y="5550408"/>
            <a:ext cx="10058400" cy="9143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43040"/>
                </a:solidFill>
                <a:latin typeface="Aptos"/>
              </a:rPr>
              <a:t>Supporting multiple formats demonstrates that the platform can handle real-world data heterogeneity.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36576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8F8B"/>
                </a:solidFill>
                <a:latin typeface="Aptos"/>
              </a:rPr>
              <a:t>SPRINT 1 · DOCUMENTATION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9496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3233F"/>
                </a:solidFill>
                <a:latin typeface="Aptos"/>
              </a:rPr>
              <a:t>Source inventory and data dictionary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11018520" cy="22860"/>
          </a:xfrm>
          <a:prstGeom prst="rect">
            <a:avLst/>
          </a:prstGeom>
          <a:solidFill>
            <a:srgbClr val="DAE2EB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7772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07086"/>
                </a:solidFill>
                <a:latin typeface="Aptos"/>
              </a:rPr>
              <a:t>ABC GLOBAL MANUFACTURING LTD.  |  ENTERPRISE PROCUREMENT DATA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07086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4241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43040"/>
                </a:solidFill>
                <a:latin typeface="Aptos"/>
              </a:rPr>
              <a:t>Each dataset needs a documented structure and business meaning.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920240"/>
            <a:ext cx="2286000" cy="484632"/>
          </a:xfrm>
          <a:prstGeom prst="rect">
            <a:avLst/>
          </a:prstGeom>
          <a:solidFill>
            <a:srgbClr val="13233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984248"/>
            <a:ext cx="2139696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Metadata field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920240"/>
            <a:ext cx="2743200" cy="484632"/>
          </a:xfrm>
          <a:prstGeom prst="rect">
            <a:avLst/>
          </a:prstGeom>
          <a:solidFill>
            <a:srgbClr val="13233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82112" y="1984248"/>
            <a:ext cx="2596896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Example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1920240"/>
            <a:ext cx="4937760" cy="484632"/>
          </a:xfrm>
          <a:prstGeom prst="rect">
            <a:avLst/>
          </a:prstGeom>
          <a:solidFill>
            <a:srgbClr val="13233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25312" y="1984248"/>
            <a:ext cx="4791456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Purpose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404872"/>
            <a:ext cx="2286000" cy="48463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" y="2468879"/>
            <a:ext cx="2139696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Dataset / table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2404872"/>
            <a:ext cx="2743200" cy="48463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182112" y="2468879"/>
            <a:ext cx="2596896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suppliers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0" y="2404872"/>
            <a:ext cx="4937760" cy="48463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25312" y="2468879"/>
            <a:ext cx="4791456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Identify source object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2889504"/>
            <a:ext cx="2286000" cy="484632"/>
          </a:xfrm>
          <a:prstGeom prst="rect">
            <a:avLst/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" y="2953512"/>
            <a:ext cx="2139696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Column name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0" y="2889504"/>
            <a:ext cx="2743200" cy="484632"/>
          </a:xfrm>
          <a:prstGeom prst="rect">
            <a:avLst/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182112" y="2953512"/>
            <a:ext cx="2596896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Supplier_ID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2160" y="2889504"/>
            <a:ext cx="4937760" cy="484632"/>
          </a:xfrm>
          <a:prstGeom prst="rect">
            <a:avLst/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25312" y="2953512"/>
            <a:ext cx="4791456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Reference field consistently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3374136"/>
            <a:ext cx="2286000" cy="48463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6112" y="3438144"/>
            <a:ext cx="2139696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Data type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08960" y="3374136"/>
            <a:ext cx="2743200" cy="48463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182112" y="3438144"/>
            <a:ext cx="2596896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VARCHAR(50)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52160" y="3374136"/>
            <a:ext cx="4937760" cy="48463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25312" y="3438144"/>
            <a:ext cx="4791456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Support reliable parsing and storage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3858768"/>
            <a:ext cx="2286000" cy="484632"/>
          </a:xfrm>
          <a:prstGeom prst="rect">
            <a:avLst/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96112" y="3922776"/>
            <a:ext cx="2139696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Nullable / key type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08960" y="3858768"/>
            <a:ext cx="2743200" cy="484632"/>
          </a:xfrm>
          <a:prstGeom prst="rect">
            <a:avLst/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182112" y="3922776"/>
            <a:ext cx="2596896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No / Primary key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52160" y="3858768"/>
            <a:ext cx="4937760" cy="484632"/>
          </a:xfrm>
          <a:prstGeom prst="rect">
            <a:avLst/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925312" y="3922776"/>
            <a:ext cx="4791456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Define completeness and uniqueness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" y="4343400"/>
            <a:ext cx="2286000" cy="48463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96112" y="4407408"/>
            <a:ext cx="2139696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Business definition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08960" y="4343400"/>
            <a:ext cx="2743200" cy="48463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182112" y="4407408"/>
            <a:ext cx="2596896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Unique supplier identifier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52160" y="4343400"/>
            <a:ext cx="4937760" cy="48463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925312" y="4407408"/>
            <a:ext cx="4791456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Clarify meaning for consumers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" y="4828032"/>
            <a:ext cx="2286000" cy="484632"/>
          </a:xfrm>
          <a:prstGeom prst="rect">
            <a:avLst/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96112" y="4892040"/>
            <a:ext cx="2139696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Source / transformation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08960" y="4828032"/>
            <a:ext cx="2743200" cy="484632"/>
          </a:xfrm>
          <a:prstGeom prst="rect">
            <a:avLst/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182112" y="4892040"/>
            <a:ext cx="2596896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suppliers.csv; trim whitespace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852160" y="4828032"/>
            <a:ext cx="4937760" cy="484632"/>
          </a:xfrm>
          <a:prstGeom prst="rect">
            <a:avLst/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925312" y="4892040"/>
            <a:ext cx="4791456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Maintain provenance and transformation context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5577840"/>
            <a:ext cx="10058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B8F8B"/>
                </a:solidFill>
                <a:latin typeface="Aptos"/>
              </a:rPr>
              <a:t>The repository includes source inventory and data dictionary artifacts.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36576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8F8B"/>
                </a:solidFill>
                <a:latin typeface="Aptos"/>
              </a:rPr>
              <a:t>SPRINT 1 · ETL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9496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3233F"/>
                </a:solidFill>
                <a:latin typeface="Aptos"/>
              </a:rPr>
              <a:t>Pentaho ingestion and PostgreSQL staging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11018520" cy="22860"/>
          </a:xfrm>
          <a:prstGeom prst="rect">
            <a:avLst/>
          </a:prstGeom>
          <a:solidFill>
            <a:srgbClr val="DAE2EB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7772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07086"/>
                </a:solidFill>
                <a:latin typeface="Aptos"/>
              </a:rPr>
              <a:t>ABC GLOBAL MANUFACTURING LTD.  |  ENTERPRISE PROCUREMENT DATA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07086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2240280" cy="1417320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2240280" cy="438912"/>
          </a:xfrm>
          <a:prstGeom prst="roundRect">
            <a:avLst>
              <a:gd name="adj" fmla="val 12000"/>
            </a:avLst>
          </a:prstGeom>
          <a:solidFill>
            <a:srgbClr val="285CA0"/>
          </a:solidFill>
          <a:ln>
            <a:solidFill>
              <a:srgbClr val="28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075688"/>
            <a:ext cx="20574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SOURCE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633472"/>
            <a:ext cx="1920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243040"/>
                </a:solidFill>
                <a:latin typeface="Aptos"/>
              </a:rPr>
              <a:t>CSV / Excel /
JSON / XML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26080" y="2697480"/>
            <a:ext cx="548640" cy="0"/>
          </a:xfrm>
          <a:prstGeom prst="line">
            <a:avLst/>
          </a:prstGeom>
          <a:ln w="25400">
            <a:solidFill>
              <a:srgbClr val="1B8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66160" y="1965960"/>
            <a:ext cx="2240280" cy="1417320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566160" y="1965960"/>
            <a:ext cx="2240280" cy="438912"/>
          </a:xfrm>
          <a:prstGeom prst="roundRect">
            <a:avLst>
              <a:gd name="adj" fmla="val 12000"/>
            </a:avLst>
          </a:prstGeom>
          <a:solidFill>
            <a:srgbClr val="1B8F8B"/>
          </a:solidFill>
          <a:ln>
            <a:solidFill>
              <a:srgbClr val="1B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0" y="2075688"/>
            <a:ext cx="20574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PENTAHO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2633472"/>
            <a:ext cx="1920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243040"/>
                </a:solidFill>
                <a:latin typeface="Aptos"/>
              </a:rPr>
              <a:t>Input steps +
field selection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06440" y="2697480"/>
            <a:ext cx="548639" cy="0"/>
          </a:xfrm>
          <a:prstGeom prst="line">
            <a:avLst/>
          </a:prstGeom>
          <a:ln w="25400">
            <a:solidFill>
              <a:srgbClr val="1B8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46520" y="1965960"/>
            <a:ext cx="2240280" cy="1417320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46520" y="1965960"/>
            <a:ext cx="2240280" cy="438912"/>
          </a:xfrm>
          <a:prstGeom prst="roundRect">
            <a:avLst>
              <a:gd name="adj" fmla="val 12000"/>
            </a:avLst>
          </a:prstGeom>
          <a:solidFill>
            <a:srgbClr val="277D57"/>
          </a:solidFill>
          <a:ln>
            <a:solidFill>
              <a:srgbClr val="277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59" y="2075688"/>
            <a:ext cx="20574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STAGING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1112" y="2633472"/>
            <a:ext cx="1920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243040"/>
                </a:solidFill>
                <a:latin typeface="Aptos"/>
              </a:rPr>
              <a:t>PostgreSQL
landing tables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686800" y="2697480"/>
            <a:ext cx="548640" cy="0"/>
          </a:xfrm>
          <a:prstGeom prst="line">
            <a:avLst/>
          </a:prstGeom>
          <a:ln w="25400">
            <a:solidFill>
              <a:srgbClr val="1B8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326880" y="1965960"/>
            <a:ext cx="2240280" cy="1417320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326880" y="1965960"/>
            <a:ext cx="2240280" cy="438912"/>
          </a:xfrm>
          <a:prstGeom prst="roundRect">
            <a:avLst>
              <a:gd name="adj" fmla="val 12000"/>
            </a:avLst>
          </a:prstGeom>
          <a:solidFill>
            <a:srgbClr val="B87D22"/>
          </a:solidFill>
          <a:ln>
            <a:solidFill>
              <a:srgbClr val="B87D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18319" y="2075688"/>
            <a:ext cx="20574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LOG / EXCEPTIONS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91472" y="2633472"/>
            <a:ext cx="1920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243040"/>
                </a:solidFill>
                <a:latin typeface="Aptos"/>
              </a:rPr>
              <a:t>Counts, status,
error details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069080"/>
            <a:ext cx="5074920" cy="1325880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2960" y="4069080"/>
            <a:ext cx="64008" cy="1325880"/>
          </a:xfrm>
          <a:prstGeom prst="rect">
            <a:avLst/>
          </a:prstGeom>
          <a:solidFill>
            <a:srgbClr val="285CA0"/>
          </a:solidFill>
          <a:ln>
            <a:solidFill>
              <a:srgbClr val="28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4128" y="4215384"/>
            <a:ext cx="47091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3233F"/>
                </a:solidFill>
                <a:latin typeface="Aptos"/>
              </a:rPr>
              <a:t>BRONZE PRINCIPLE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" y="4617720"/>
            <a:ext cx="4709159" cy="70408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43040"/>
                </a:solidFill>
                <a:latin typeface="Aptos"/>
              </a:defRPr>
            </a:pPr>
            <a:r>
              <a:t>•  Preserve received data for traceability</a:t>
            </a:r>
          </a:p>
          <a:p>
            <a:pPr>
              <a:spcAft>
                <a:spcPts val="500"/>
              </a:spcAft>
              <a:defRPr sz="1200">
                <a:solidFill>
                  <a:srgbClr val="243040"/>
                </a:solidFill>
                <a:latin typeface="Aptos"/>
              </a:defRPr>
            </a:pPr>
            <a:r>
              <a:t>•  Enable reprocessing when later rules change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069080"/>
            <a:ext cx="5074920" cy="1325880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17920" y="4069080"/>
            <a:ext cx="64008" cy="1325880"/>
          </a:xfrm>
          <a:prstGeom prst="rect">
            <a:avLst/>
          </a:prstGeom>
          <a:solidFill>
            <a:srgbClr val="1B8F8B"/>
          </a:solidFill>
          <a:ln>
            <a:solidFill>
              <a:srgbClr val="1B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19088" y="4215384"/>
            <a:ext cx="47091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3233F"/>
                </a:solidFill>
                <a:latin typeface="Aptos"/>
              </a:rPr>
              <a:t>BASIC INGESTION RULES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4617720"/>
            <a:ext cx="4709159" cy="70408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43040"/>
                </a:solidFill>
                <a:latin typeface="Aptos"/>
              </a:defRPr>
            </a:pPr>
            <a:r>
              <a:t>•  Identify required fields and parse types consistently</a:t>
            </a:r>
          </a:p>
          <a:p>
            <a:pPr>
              <a:spcAft>
                <a:spcPts val="500"/>
              </a:spcAft>
              <a:defRPr sz="1200">
                <a:solidFill>
                  <a:srgbClr val="243040"/>
                </a:solidFill>
                <a:latin typeface="Aptos"/>
              </a:defRPr>
            </a:pPr>
            <a:r>
              <a:t>•  Capture unreadable files and malformed records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36576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8F8B"/>
                </a:solidFill>
                <a:latin typeface="Aptos"/>
              </a:rPr>
              <a:t>SPRINT 1 ·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9496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3233F"/>
                </a:solidFill>
                <a:latin typeface="Aptos"/>
              </a:rPr>
              <a:t>Logging, exception handling and reconciliation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11018520" cy="22860"/>
          </a:xfrm>
          <a:prstGeom prst="rect">
            <a:avLst/>
          </a:prstGeom>
          <a:solidFill>
            <a:srgbClr val="DAE2EB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7772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07086"/>
                </a:solidFill>
                <a:latin typeface="Aptos"/>
              </a:rPr>
              <a:t>ABC GLOBAL MANUFACTURING LTD.  |  ENTERPRISE PROCUREMENT DATA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07086"/>
                </a:solidFill>
                <a:latin typeface="Aptos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2377440" cy="475488"/>
          </a:xfrm>
          <a:prstGeom prst="rect">
            <a:avLst/>
          </a:prstGeom>
          <a:solidFill>
            <a:srgbClr val="13233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481328"/>
            <a:ext cx="2231136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Log 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1417320"/>
            <a:ext cx="8138160" cy="475488"/>
          </a:xfrm>
          <a:prstGeom prst="rect">
            <a:avLst/>
          </a:prstGeom>
          <a:solidFill>
            <a:srgbClr val="13233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27832" y="1481328"/>
            <a:ext cx="7991856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Purpose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892808"/>
            <a:ext cx="23774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1956816"/>
            <a:ext cx="2231136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Job_ID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54680" y="1892808"/>
            <a:ext cx="81381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27832" y="1956816"/>
            <a:ext cx="7991856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Identify a single pipeline execution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368296"/>
            <a:ext cx="2377440" cy="475488"/>
          </a:xfrm>
          <a:prstGeom prst="rect">
            <a:avLst/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" y="2432303"/>
            <a:ext cx="2231136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Source_File / Source_System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54680" y="2368296"/>
            <a:ext cx="8138160" cy="475488"/>
          </a:xfrm>
          <a:prstGeom prst="rect">
            <a:avLst/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27832" y="2432303"/>
            <a:ext cx="7991856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Trace the source of the 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843784"/>
            <a:ext cx="23774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2" y="2907792"/>
            <a:ext cx="2231136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Start_Time / End_Time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54680" y="2843784"/>
            <a:ext cx="81381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27832" y="2907792"/>
            <a:ext cx="7991856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Record execution window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3319272"/>
            <a:ext cx="2377440" cy="475488"/>
          </a:xfrm>
          <a:prstGeom prst="rect">
            <a:avLst/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0392" y="3383279"/>
            <a:ext cx="2231136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Records_Read / Records_Loaded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54680" y="3319272"/>
            <a:ext cx="8138160" cy="475488"/>
          </a:xfrm>
          <a:prstGeom prst="rect">
            <a:avLst/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27832" y="3383279"/>
            <a:ext cx="7991856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Measure input and successful staging output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3794760"/>
            <a:ext cx="23774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0392" y="3858768"/>
            <a:ext cx="2231136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Records_Rejected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54680" y="3794760"/>
            <a:ext cx="81381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227832" y="3858768"/>
            <a:ext cx="7991856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Track records that did not load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270248"/>
            <a:ext cx="2377440" cy="475488"/>
          </a:xfrm>
          <a:prstGeom prst="rect">
            <a:avLst/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0392" y="4334256"/>
            <a:ext cx="2231136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Status / Error_Message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54680" y="4270248"/>
            <a:ext cx="8138160" cy="475488"/>
          </a:xfrm>
          <a:prstGeom prst="rect">
            <a:avLst/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27832" y="4334256"/>
            <a:ext cx="7991856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0"/>
                </a:solidFill>
                <a:latin typeface="Aptos"/>
              </a:rPr>
              <a:t>Explain success or failure and support investigation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8680" y="4937760"/>
            <a:ext cx="10378440" cy="731520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97280" y="5102352"/>
            <a:ext cx="99669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3233F"/>
                </a:solidFill>
                <a:latin typeface="Aptos"/>
              </a:rPr>
              <a:t>Reconciliation principle: input records = loaded records + rejected records.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806440"/>
            <a:ext cx="102412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07086"/>
                </a:solidFill>
                <a:latin typeface="Aptos"/>
              </a:rPr>
              <a:t>Any illustrative reconciliation example in the source deck is a pattern to implement, not a claim about the current production run.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36576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8F8B"/>
                </a:solidFill>
                <a:latin typeface="Aptos"/>
              </a:rPr>
              <a:t>SPRINT 1 ·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9496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3233F"/>
                </a:solidFill>
                <a:latin typeface="Aptos"/>
              </a:rPr>
              <a:t>Sprint 1 deliverables and success criteria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11018520" cy="22860"/>
          </a:xfrm>
          <a:prstGeom prst="rect">
            <a:avLst/>
          </a:prstGeom>
          <a:solidFill>
            <a:srgbClr val="DAE2EB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7772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07086"/>
                </a:solidFill>
                <a:latin typeface="Aptos"/>
              </a:rPr>
              <a:t>ABC GLOBAL MANUFACTURING LTD.  |  ENTERPRISE PROCUREMENT DATA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07086"/>
                </a:solidFill>
                <a:latin typeface="Aptos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08760"/>
            <a:ext cx="5074920" cy="3429000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508760"/>
            <a:ext cx="64008" cy="3429000"/>
          </a:xfrm>
          <a:prstGeom prst="rect">
            <a:avLst/>
          </a:prstGeom>
          <a:solidFill>
            <a:srgbClr val="285CA0"/>
          </a:solidFill>
          <a:ln>
            <a:solidFill>
              <a:srgbClr val="28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1655063"/>
            <a:ext cx="47091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3233F"/>
                </a:solidFill>
                <a:latin typeface="Aptos"/>
              </a:rPr>
              <a:t>DELIVERABLES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057400"/>
            <a:ext cx="4709159" cy="28072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43040"/>
                </a:solidFill>
                <a:latin typeface="Aptos"/>
              </a:defRPr>
            </a:pPr>
            <a:r>
              <a:t>•  Source inventory and data dictionary</a:t>
            </a:r>
          </a:p>
          <a:p>
            <a:pPr>
              <a:spcAft>
                <a:spcPts val="500"/>
              </a:spcAft>
              <a:defRPr sz="1400">
                <a:solidFill>
                  <a:srgbClr val="243040"/>
                </a:solidFill>
                <a:latin typeface="Aptos"/>
              </a:defRPr>
            </a:pPr>
            <a:r>
              <a:t>•  Pentaho pipelines for selected formats</a:t>
            </a:r>
          </a:p>
          <a:p>
            <a:pPr>
              <a:spcAft>
                <a:spcPts val="500"/>
              </a:spcAft>
              <a:defRPr sz="1400">
                <a:solidFill>
                  <a:srgbClr val="243040"/>
                </a:solidFill>
                <a:latin typeface="Aptos"/>
              </a:defRPr>
            </a:pPr>
            <a:r>
              <a:t>•  PostgreSQL staging database and table scripts</a:t>
            </a:r>
          </a:p>
          <a:p>
            <a:pPr>
              <a:spcAft>
                <a:spcPts val="500"/>
              </a:spcAft>
              <a:defRPr sz="1400">
                <a:solidFill>
                  <a:srgbClr val="243040"/>
                </a:solidFill>
                <a:latin typeface="Aptos"/>
              </a:defRPr>
            </a:pPr>
            <a:r>
              <a:t>•  Basic ingestion logs and exception-handling evidence</a:t>
            </a:r>
          </a:p>
          <a:p>
            <a:pPr>
              <a:spcAft>
                <a:spcPts val="500"/>
              </a:spcAft>
              <a:defRPr sz="1400">
                <a:solidFill>
                  <a:srgbClr val="243040"/>
                </a:solidFill>
                <a:latin typeface="Aptos"/>
              </a:defRPr>
            </a:pPr>
            <a:r>
              <a:t>•  Git commit history and updated repository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08760"/>
            <a:ext cx="5074920" cy="3429000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508760"/>
            <a:ext cx="64008" cy="3429000"/>
          </a:xfrm>
          <a:prstGeom prst="rect">
            <a:avLst/>
          </a:prstGeom>
          <a:solidFill>
            <a:srgbClr val="277D57"/>
          </a:solidFill>
          <a:ln>
            <a:solidFill>
              <a:srgbClr val="277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655063"/>
            <a:ext cx="47091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3233F"/>
                </a:solidFill>
                <a:latin typeface="Aptos"/>
              </a:rPr>
              <a:t>SUCCESS CRITERIA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057400"/>
            <a:ext cx="4709159" cy="28072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43040"/>
                </a:solidFill>
                <a:latin typeface="Aptos"/>
              </a:defRPr>
            </a:pPr>
            <a:r>
              <a:t>•  Each selected dataset has documented schema and purpose</a:t>
            </a:r>
          </a:p>
          <a:p>
            <a:pPr>
              <a:spcAft>
                <a:spcPts val="500"/>
              </a:spcAft>
              <a:defRPr sz="1400">
                <a:solidFill>
                  <a:srgbClr val="243040"/>
                </a:solidFill>
                <a:latin typeface="Aptos"/>
              </a:defRPr>
            </a:pPr>
            <a:r>
              <a:t>•  Each selected format can be read through Pentaho</a:t>
            </a:r>
          </a:p>
          <a:p>
            <a:pPr>
              <a:spcAft>
                <a:spcPts val="500"/>
              </a:spcAft>
              <a:defRPr sz="1400">
                <a:solidFill>
                  <a:srgbClr val="243040"/>
                </a:solidFill>
                <a:latin typeface="Aptos"/>
              </a:defRPr>
            </a:pPr>
            <a:r>
              <a:t>•  Raw records load to the intended staging tables</a:t>
            </a:r>
          </a:p>
          <a:p>
            <a:pPr>
              <a:spcAft>
                <a:spcPts val="500"/>
              </a:spcAft>
              <a:defRPr sz="1400">
                <a:solidFill>
                  <a:srgbClr val="243040"/>
                </a:solidFill>
                <a:latin typeface="Aptos"/>
              </a:defRPr>
            </a:pPr>
            <a:r>
              <a:t>•  Record counts can be reconciled</a:t>
            </a:r>
          </a:p>
          <a:p>
            <a:pPr>
              <a:spcAft>
                <a:spcPts val="500"/>
              </a:spcAft>
              <a:defRPr sz="1400">
                <a:solidFill>
                  <a:srgbClr val="243040"/>
                </a:solidFill>
                <a:latin typeface="Aptos"/>
              </a:defRPr>
            </a:pPr>
            <a:r>
              <a:t>•  Failures have meaningful logged errors</a:t>
            </a:r>
          </a:p>
          <a:p>
            <a:pPr>
              <a:spcAft>
                <a:spcPts val="500"/>
              </a:spcAft>
              <a:defRPr sz="1400">
                <a:solidFill>
                  <a:srgbClr val="243040"/>
                </a:solidFill>
                <a:latin typeface="Aptos"/>
              </a:defRPr>
            </a:pPr>
            <a:r>
              <a:t>•  Artifacts are committed and ready for profiling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49240"/>
            <a:ext cx="101498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3233F"/>
                </a:solidFill>
                <a:latin typeface="Aptos"/>
              </a:rPr>
              <a:t>Sprint 1 conclusion: source data moves from discovery into a controlled landing zone.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36576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8F8B"/>
                </a:solidFill>
                <a:latin typeface="Aptos"/>
              </a:rPr>
              <a:t>SPRINT 2 · DATA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9496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3233F"/>
                </a:solidFill>
                <a:latin typeface="Aptos"/>
              </a:rPr>
              <a:t>Sprint 2: profiling, cleansing and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11018520" cy="22860"/>
          </a:xfrm>
          <a:prstGeom prst="rect">
            <a:avLst/>
          </a:prstGeom>
          <a:solidFill>
            <a:srgbClr val="DAE2EB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7772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07086"/>
                </a:solidFill>
                <a:latin typeface="Aptos"/>
              </a:rPr>
              <a:t>ABC GLOBAL MANUFACTURING LTD.  |  ENTERPRISE PROCUREMENT DATA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07086"/>
                </a:solidFill>
                <a:latin typeface="Apto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10698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43040"/>
                </a:solidFill>
                <a:latin typeface="Aptos"/>
              </a:rPr>
              <a:t>Sprint 2 uses Python/Pandas to establish a data-quality baseline across six datasets.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401568" cy="1143000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965960"/>
            <a:ext cx="301752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3233F"/>
                </a:solidFill>
                <a:latin typeface="Aptos"/>
              </a:rPr>
              <a:t>Purchase orders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04288"/>
            <a:ext cx="3017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B8F8B"/>
                </a:solidFill>
                <a:latin typeface="Aptos"/>
              </a:rPr>
              <a:t>5,000 rows · 23 columns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633472"/>
            <a:ext cx="3017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07086"/>
                </a:solidFill>
                <a:latin typeface="Aptos"/>
              </a:rPr>
              <a:t>Excel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828800"/>
            <a:ext cx="3401568" cy="1143000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9431" y="1965960"/>
            <a:ext cx="301752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3233F"/>
                </a:solidFill>
                <a:latin typeface="Aptos"/>
              </a:rPr>
              <a:t>Suppliers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1" y="2304288"/>
            <a:ext cx="3017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B8F8B"/>
                </a:solidFill>
                <a:latin typeface="Aptos"/>
              </a:rPr>
              <a:t>250 rows · 10 columns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1" y="2633472"/>
            <a:ext cx="3017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07086"/>
                </a:solidFill>
                <a:latin typeface="Aptos"/>
              </a:rPr>
              <a:t>CSV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828800"/>
            <a:ext cx="3401568" cy="1143000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02752" y="1965960"/>
            <a:ext cx="301752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3233F"/>
                </a:solidFill>
                <a:latin typeface="Aptos"/>
              </a:rPr>
              <a:t>Warehouses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304288"/>
            <a:ext cx="3017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B8F8B"/>
                </a:solidFill>
                <a:latin typeface="Aptos"/>
              </a:rPr>
              <a:t>10 rows · 8 columns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633472"/>
            <a:ext cx="3017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07086"/>
                </a:solidFill>
                <a:latin typeface="Aptos"/>
              </a:rPr>
              <a:t>JSON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246120"/>
            <a:ext cx="3401568" cy="1143000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" y="3383279"/>
            <a:ext cx="301752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3233F"/>
                </a:solidFill>
                <a:latin typeface="Aptos"/>
              </a:rPr>
              <a:t>Contracts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3721608"/>
            <a:ext cx="3017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B8F8B"/>
                </a:solidFill>
                <a:latin typeface="Aptos"/>
              </a:rPr>
              <a:t>600 rows · 10 columns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4050791"/>
            <a:ext cx="3017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07086"/>
                </a:solidFill>
                <a:latin typeface="Aptos"/>
              </a:rPr>
              <a:t>CSV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246120"/>
            <a:ext cx="3401568" cy="1143000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99431" y="3383279"/>
            <a:ext cx="301752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3233F"/>
                </a:solidFill>
                <a:latin typeface="Aptos"/>
              </a:rPr>
              <a:t>Inventory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9431" y="3721608"/>
            <a:ext cx="3017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B8F8B"/>
                </a:solidFill>
                <a:latin typeface="Aptos"/>
              </a:rPr>
              <a:t>5,000 rows · 14 columns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9431" y="4050791"/>
            <a:ext cx="3017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07086"/>
                </a:solidFill>
                <a:latin typeface="Aptos"/>
              </a:rPr>
              <a:t>JSON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3246120"/>
            <a:ext cx="3401568" cy="1143000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02752" y="3383279"/>
            <a:ext cx="301752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3233F"/>
                </a:solidFill>
                <a:latin typeface="Aptos"/>
              </a:rPr>
              <a:t>Invoices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3721608"/>
            <a:ext cx="3017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B8F8B"/>
                </a:solidFill>
                <a:latin typeface="Aptos"/>
              </a:rPr>
              <a:t>5,000 rows · 13 columns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2" y="4050791"/>
            <a:ext cx="3017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07086"/>
                </a:solidFill>
                <a:latin typeface="Aptos"/>
              </a:rPr>
              <a:t>XML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029200"/>
            <a:ext cx="104241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607086"/>
                </a:solidFill>
                <a:latin typeface="Aptos"/>
              </a:rPr>
              <a:t>Dataset sizes reflect the saved Sprint 2 notebook outputs in the uploaded repository.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36576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8F8B"/>
                </a:solidFill>
                <a:latin typeface="Aptos"/>
              </a:rPr>
              <a:t>SPRINT 2 · DATA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9496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3233F"/>
                </a:solidFill>
                <a:latin typeface="Aptos"/>
              </a:rPr>
              <a:t>Profiling and cleansing methods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11018520" cy="22860"/>
          </a:xfrm>
          <a:prstGeom prst="rect">
            <a:avLst/>
          </a:prstGeom>
          <a:solidFill>
            <a:srgbClr val="DAE2EB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7772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07086"/>
                </a:solidFill>
                <a:latin typeface="Aptos"/>
              </a:rPr>
              <a:t>ABC GLOBAL MANUFACTURING LTD.  |  ENTERPRISE PROCUREMENT DATA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07086"/>
                </a:solidFill>
                <a:latin typeface="Aptos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429000" cy="3337560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64008" cy="3337560"/>
          </a:xfrm>
          <a:prstGeom prst="rect">
            <a:avLst/>
          </a:prstGeom>
          <a:solidFill>
            <a:srgbClr val="285CA0"/>
          </a:solidFill>
          <a:ln>
            <a:solidFill>
              <a:srgbClr val="28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655063"/>
            <a:ext cx="30632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3233F"/>
                </a:solidFill>
                <a:latin typeface="Aptos"/>
              </a:rPr>
              <a:t>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57400"/>
            <a:ext cx="3063240" cy="27157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43040"/>
                </a:solidFill>
                <a:latin typeface="Aptos"/>
              </a:defRPr>
            </a:pPr>
            <a:r>
              <a:t>•  Inspect schema, column names and data types</a:t>
            </a:r>
          </a:p>
          <a:p>
            <a:pPr>
              <a:spcAft>
                <a:spcPts val="500"/>
              </a:spcAft>
              <a:defRPr sz="1300">
                <a:solidFill>
                  <a:srgbClr val="243040"/>
                </a:solidFill>
                <a:latin typeface="Aptos"/>
              </a:defRPr>
            </a:pPr>
            <a:r>
              <a:t>•  Count nulls and missing-value percentages</a:t>
            </a:r>
          </a:p>
          <a:p>
            <a:pPr>
              <a:spcAft>
                <a:spcPts val="500"/>
              </a:spcAft>
              <a:defRPr sz="1300">
                <a:solidFill>
                  <a:srgbClr val="243040"/>
                </a:solidFill>
                <a:latin typeface="Aptos"/>
              </a:defRPr>
            </a:pPr>
            <a:r>
              <a:t>•  Check duplicate rows and candidate keys</a:t>
            </a:r>
          </a:p>
          <a:p>
            <a:pPr>
              <a:spcAft>
                <a:spcPts val="500"/>
              </a:spcAft>
              <a:defRPr sz="1300">
                <a:solidFill>
                  <a:srgbClr val="243040"/>
                </a:solidFill>
                <a:latin typeface="Aptos"/>
              </a:defRPr>
            </a:pPr>
            <a:r>
              <a:t>•  Review numeric distributions</a:t>
            </a:r>
          </a:p>
          <a:p>
            <a:pPr>
              <a:spcAft>
                <a:spcPts val="500"/>
              </a:spcAft>
              <a:defRPr sz="1300">
                <a:solidFill>
                  <a:srgbClr val="243040"/>
                </a:solidFill>
                <a:latin typeface="Aptos"/>
              </a:defRPr>
            </a:pPr>
            <a:r>
              <a:t>•  Test relationships between datasets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08760"/>
            <a:ext cx="3429000" cy="3337560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508760"/>
            <a:ext cx="64008" cy="3337560"/>
          </a:xfrm>
          <a:prstGeom prst="rect">
            <a:avLst/>
          </a:prstGeom>
          <a:solidFill>
            <a:srgbClr val="1B8F8B"/>
          </a:solidFill>
          <a:ln>
            <a:solidFill>
              <a:srgbClr val="1B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655063"/>
            <a:ext cx="30632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3233F"/>
                </a:solidFill>
                <a:latin typeface="Aptos"/>
              </a:rPr>
              <a:t>CLEANSE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057400"/>
            <a:ext cx="3063240" cy="27157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43040"/>
                </a:solidFill>
                <a:latin typeface="Aptos"/>
              </a:defRPr>
            </a:pPr>
            <a:r>
              <a:t>•  Trim whitespace from column names</a:t>
            </a:r>
          </a:p>
          <a:p>
            <a:pPr>
              <a:spcAft>
                <a:spcPts val="500"/>
              </a:spcAft>
              <a:defRPr sz="1300">
                <a:solidFill>
                  <a:srgbClr val="243040"/>
                </a:solidFill>
                <a:latin typeface="Aptos"/>
              </a:defRPr>
            </a:pPr>
            <a:r>
              <a:t>•  Replace spaces/hyphens with underscores</a:t>
            </a:r>
          </a:p>
          <a:p>
            <a:pPr>
              <a:spcAft>
                <a:spcPts val="500"/>
              </a:spcAft>
              <a:defRPr sz="1300">
                <a:solidFill>
                  <a:srgbClr val="243040"/>
                </a:solidFill>
                <a:latin typeface="Aptos"/>
              </a:defRPr>
            </a:pPr>
            <a:r>
              <a:t>•  Strip leading/trailing spaces from text</a:t>
            </a:r>
          </a:p>
          <a:p>
            <a:pPr>
              <a:spcAft>
                <a:spcPts val="500"/>
              </a:spcAft>
              <a:defRPr sz="1300">
                <a:solidFill>
                  <a:srgbClr val="243040"/>
                </a:solidFill>
                <a:latin typeface="Aptos"/>
              </a:defRPr>
            </a:pPr>
            <a:r>
              <a:t>•  Convert selected date fields to datetime</a:t>
            </a:r>
          </a:p>
          <a:p>
            <a:pPr>
              <a:spcAft>
                <a:spcPts val="500"/>
              </a:spcAft>
              <a:defRPr sz="1300">
                <a:solidFill>
                  <a:srgbClr val="243040"/>
                </a:solidFill>
                <a:latin typeface="Aptos"/>
              </a:defRPr>
            </a:pPr>
            <a:r>
              <a:t>•  Keep cleaned copies separate from originals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08760"/>
            <a:ext cx="3429000" cy="3337560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508760"/>
            <a:ext cx="64008" cy="3337560"/>
          </a:xfrm>
          <a:prstGeom prst="rect">
            <a:avLst/>
          </a:prstGeom>
          <a:solidFill>
            <a:srgbClr val="B87D22"/>
          </a:solidFill>
          <a:ln>
            <a:solidFill>
              <a:srgbClr val="B87D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655063"/>
            <a:ext cx="30632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3233F"/>
                </a:solidFill>
                <a:latin typeface="Aptos"/>
              </a:rPr>
              <a:t>HANDLE MISSING VALUES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057400"/>
            <a:ext cx="3063240" cy="27157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43040"/>
                </a:solidFill>
                <a:latin typeface="Aptos"/>
              </a:defRPr>
            </a:pPr>
            <a:r>
              <a:t>•  Purchase-order Contract_ID: “No Contract”</a:t>
            </a:r>
          </a:p>
          <a:p>
            <a:pPr>
              <a:spcAft>
                <a:spcPts val="500"/>
              </a:spcAft>
              <a:defRPr sz="1300">
                <a:solidFill>
                  <a:srgbClr val="243040"/>
                </a:solidFill>
                <a:latin typeface="Aptos"/>
              </a:defRPr>
            </a:pPr>
            <a:r>
              <a:t>•  Invoice Paid_Date: “Not Paid” in cleansing workflow</a:t>
            </a:r>
          </a:p>
          <a:p>
            <a:pPr>
              <a:spcAft>
                <a:spcPts val="500"/>
              </a:spcAft>
              <a:defRPr sz="1300">
                <a:solidFill>
                  <a:srgbClr val="243040"/>
                </a:solidFill>
                <a:latin typeface="Aptos"/>
              </a:defRPr>
            </a:pPr>
            <a:r>
              <a:t>•  Use date coercion to expose invalid values</a:t>
            </a:r>
          </a:p>
          <a:p>
            <a:pPr>
              <a:spcAft>
                <a:spcPts val="500"/>
              </a:spcAft>
              <a:defRPr sz="1300">
                <a:solidFill>
                  <a:srgbClr val="243040"/>
                </a:solidFill>
                <a:latin typeface="Aptos"/>
              </a:defRPr>
            </a:pPr>
            <a:r>
              <a:t>•  Retain unresolved due/paid date issues for follow-up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349240"/>
            <a:ext cx="102412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B8F8B"/>
                </a:solidFill>
                <a:latin typeface="Aptos"/>
              </a:rPr>
              <a:t>Repository artifacts: python/sprint2.ipynb and silver/Cleansing/.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36576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8F8B"/>
                </a:solidFill>
                <a:latin typeface="Aptos"/>
              </a:rPr>
              <a:t>SPRINT 2 ·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9496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3233F"/>
                </a:solidFill>
                <a:latin typeface="Aptos"/>
              </a:rPr>
              <a:t>Referential integrity checks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11018520" cy="22860"/>
          </a:xfrm>
          <a:prstGeom prst="rect">
            <a:avLst/>
          </a:prstGeom>
          <a:solidFill>
            <a:srgbClr val="DAE2EB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7772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07086"/>
                </a:solidFill>
                <a:latin typeface="Aptos"/>
              </a:rPr>
              <a:t>ABC GLOBAL MANUFACTURING LTD.  |  ENTERPRISE PROCUREMENT DATA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07086"/>
                </a:solidFill>
                <a:latin typeface="Aptos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10515600" cy="42976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499616"/>
            <a:ext cx="65836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43040"/>
                </a:solidFill>
                <a:latin typeface="Aptos"/>
              </a:rPr>
              <a:t>Purchase Orders → Suppliers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499616"/>
            <a:ext cx="3749039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277D57"/>
                </a:solidFill>
                <a:latin typeface="Aptos"/>
              </a:rPr>
              <a:t>0 invalid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975104"/>
            <a:ext cx="10515600" cy="42976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057400"/>
            <a:ext cx="65836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43040"/>
                </a:solidFill>
                <a:latin typeface="Aptos"/>
              </a:rPr>
              <a:t>Purchase Orders → Warehouses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057400"/>
            <a:ext cx="3749039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277D57"/>
                </a:solidFill>
                <a:latin typeface="Aptos"/>
              </a:rPr>
              <a:t>0 invalid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532888"/>
            <a:ext cx="10515600" cy="42976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2615184"/>
            <a:ext cx="65836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43040"/>
                </a:solidFill>
                <a:latin typeface="Aptos"/>
              </a:rPr>
              <a:t>Purchase Orders → Contracts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615184"/>
            <a:ext cx="3749039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277D57"/>
                </a:solidFill>
                <a:latin typeface="Aptos"/>
              </a:rPr>
              <a:t>0 invalid after excluding “No Contract”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090672"/>
            <a:ext cx="10515600" cy="42976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3172968"/>
            <a:ext cx="65836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43040"/>
                </a:solidFill>
                <a:latin typeface="Aptos"/>
              </a:rPr>
              <a:t>Inventory → Purchase Orders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172968"/>
            <a:ext cx="3749039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277D57"/>
                </a:solidFill>
                <a:latin typeface="Aptos"/>
              </a:rPr>
              <a:t>0 invalid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648456"/>
            <a:ext cx="10515600" cy="42976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3730752"/>
            <a:ext cx="65836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43040"/>
                </a:solidFill>
                <a:latin typeface="Aptos"/>
              </a:rPr>
              <a:t>Inventory → Warehouses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730752"/>
            <a:ext cx="3749039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277D57"/>
                </a:solidFill>
                <a:latin typeface="Aptos"/>
              </a:rPr>
              <a:t>0 invalid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206240"/>
            <a:ext cx="10515600" cy="42976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4288536"/>
            <a:ext cx="65836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43040"/>
                </a:solidFill>
                <a:latin typeface="Aptos"/>
              </a:rPr>
              <a:t>Invoices → Purchase Orders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288536"/>
            <a:ext cx="3749039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277D57"/>
                </a:solidFill>
                <a:latin typeface="Aptos"/>
              </a:rPr>
              <a:t>0 invalid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764024"/>
            <a:ext cx="10515600" cy="42976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" y="4846320"/>
            <a:ext cx="65836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43040"/>
                </a:solidFill>
                <a:latin typeface="Aptos"/>
              </a:rPr>
              <a:t>Invoices → Suppliers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4846320"/>
            <a:ext cx="3749039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277D57"/>
                </a:solidFill>
                <a:latin typeface="Aptos"/>
              </a:rPr>
              <a:t>0 invalid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577840"/>
            <a:ext cx="102412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607086"/>
                </a:solidFill>
                <a:latin typeface="Aptos"/>
              </a:rPr>
              <a:t>The source notebook reports zero invalid references for the relationships tested; 276 purchase orders originally had no contract reference.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rocurement Star Schema Architecture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388" y="164592"/>
            <a:ext cx="9793224" cy="652881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36576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8F8B"/>
                </a:solidFill>
                <a:latin typeface="Aptos"/>
              </a:rPr>
              <a:t>SPRINT 2 ·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9496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3233F"/>
                </a:solidFill>
                <a:latin typeface="Aptos"/>
              </a:rPr>
              <a:t>Inventory consistency and quality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11018520" cy="22860"/>
          </a:xfrm>
          <a:prstGeom prst="rect">
            <a:avLst/>
          </a:prstGeom>
          <a:solidFill>
            <a:srgbClr val="DAE2EB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7772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07086"/>
                </a:solidFill>
                <a:latin typeface="Aptos"/>
              </a:rPr>
              <a:t>ABC GLOBAL MANUFACTURING LTD.  |  ENTERPRISE PROCUREMENT DATA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07086"/>
                </a:solidFill>
                <a:latin typeface="Aptos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166360" cy="1645920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64008" cy="1645920"/>
          </a:xfrm>
          <a:prstGeom prst="rect">
            <a:avLst/>
          </a:prstGeom>
          <a:solidFill>
            <a:srgbClr val="277D57"/>
          </a:solidFill>
          <a:ln>
            <a:solidFill>
              <a:srgbClr val="277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655063"/>
            <a:ext cx="48006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3233F"/>
                </a:solidFill>
                <a:latin typeface="Aptos"/>
              </a:rPr>
              <a:t>STOCK RANGES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57400"/>
            <a:ext cx="4800600" cy="10241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43040"/>
                </a:solidFill>
                <a:latin typeface="Aptos"/>
              </a:defRPr>
            </a:pPr>
            <a:r>
              <a:t>•  No negative opening-stock, stock-in, stock-out or closing-stock records reported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08760"/>
            <a:ext cx="5166360" cy="1645920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508760"/>
            <a:ext cx="64008" cy="1645920"/>
          </a:xfrm>
          <a:prstGeom prst="rect">
            <a:avLst/>
          </a:prstGeom>
          <a:solidFill>
            <a:srgbClr val="1B8F8B"/>
          </a:solidFill>
          <a:ln>
            <a:solidFill>
              <a:srgbClr val="1B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807" y="1655063"/>
            <a:ext cx="48006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3233F"/>
                </a:solidFill>
                <a:latin typeface="Aptos"/>
              </a:rPr>
              <a:t>CAPACITY UTILIZATION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2057400"/>
            <a:ext cx="4800600" cy="10241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43040"/>
                </a:solidFill>
                <a:latin typeface="Aptos"/>
              </a:defRPr>
            </a:pPr>
            <a:r>
              <a:t>•  No records outside the 0–100% range reported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520440"/>
            <a:ext cx="5166360" cy="1645920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520440"/>
            <a:ext cx="64008" cy="1645920"/>
          </a:xfrm>
          <a:prstGeom prst="rect">
            <a:avLst/>
          </a:prstGeom>
          <a:solidFill>
            <a:srgbClr val="285CA0"/>
          </a:solidFill>
          <a:ln>
            <a:solidFill>
              <a:srgbClr val="28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3666744"/>
            <a:ext cx="48006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3233F"/>
                </a:solidFill>
                <a:latin typeface="Aptos"/>
              </a:rPr>
              <a:t>STOCK RECONCILIATION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069080"/>
            <a:ext cx="4800600" cy="10241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43040"/>
                </a:solidFill>
                <a:latin typeface="Aptos"/>
              </a:defRPr>
            </a:pPr>
            <a:r>
              <a:t>•  No discrepancies reported between closing stock and max(opening + in − out, 0)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520440"/>
            <a:ext cx="5166360" cy="1645920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63640" y="3520440"/>
            <a:ext cx="64008" cy="1645920"/>
          </a:xfrm>
          <a:prstGeom prst="rect">
            <a:avLst/>
          </a:prstGeom>
          <a:solidFill>
            <a:srgbClr val="277D57"/>
          </a:solidFill>
          <a:ln>
            <a:solidFill>
              <a:srgbClr val="277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64807" y="3666744"/>
            <a:ext cx="48006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3233F"/>
                </a:solidFill>
                <a:latin typeface="Aptos"/>
              </a:rPr>
              <a:t>QUALITY FLAG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7" y="4069080"/>
            <a:ext cx="4800600" cy="10241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43040"/>
                </a:solidFill>
                <a:latin typeface="Aptos"/>
              </a:defRPr>
            </a:pPr>
            <a:r>
              <a:t>•  5,000 inventory records marked Valid in saved notebook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623560"/>
            <a:ext cx="102412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607086"/>
                </a:solidFill>
                <a:latin typeface="Aptos"/>
              </a:rPr>
              <a:t>These are the validation results reported in the saved Sprint 2 notebook.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36576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8F8B"/>
                </a:solidFill>
                <a:latin typeface="Aptos"/>
              </a:rPr>
              <a:t>SPRINT 2 ·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9496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3233F"/>
                </a:solidFill>
                <a:latin typeface="Aptos"/>
              </a:rPr>
              <a:t>Sprint 2 findings and repository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11018520" cy="22860"/>
          </a:xfrm>
          <a:prstGeom prst="rect">
            <a:avLst/>
          </a:prstGeom>
          <a:solidFill>
            <a:srgbClr val="DAE2EB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7772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07086"/>
                </a:solidFill>
                <a:latin typeface="Aptos"/>
              </a:rPr>
              <a:t>ABC GLOBAL MANUFACTURING LTD.  |  ENTERPRISE PROCUREMENT DATA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07086"/>
                </a:solidFill>
                <a:latin typeface="Aptos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166360" cy="1828800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64008" cy="1828800"/>
          </a:xfrm>
          <a:prstGeom prst="rect">
            <a:avLst/>
          </a:prstGeom>
          <a:solidFill>
            <a:srgbClr val="B87D22"/>
          </a:solidFill>
          <a:ln>
            <a:solidFill>
              <a:srgbClr val="B87D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563624"/>
            <a:ext cx="48006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3233F"/>
                </a:solidFill>
                <a:latin typeface="Aptos"/>
              </a:rPr>
              <a:t>IMPORTANT FINDINGS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65960"/>
            <a:ext cx="4800600" cy="120700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43040"/>
                </a:solidFill>
                <a:latin typeface="Aptos"/>
              </a:defRPr>
            </a:pPr>
            <a:r>
              <a:t>•  Product_ID repeats across purchase orders; it is not a unique PO key</a:t>
            </a:r>
          </a:p>
          <a:p>
            <a:pPr>
              <a:spcAft>
                <a:spcPts val="500"/>
              </a:spcAft>
              <a:defRPr sz="1200">
                <a:solidFill>
                  <a:srgbClr val="243040"/>
                </a:solidFill>
                <a:latin typeface="Aptos"/>
              </a:defRPr>
            </a:pPr>
            <a:r>
              <a:t>•  276 purchase orders have no contract reference</a:t>
            </a:r>
          </a:p>
          <a:p>
            <a:pPr>
              <a:spcAft>
                <a:spcPts val="500"/>
              </a:spcAft>
              <a:defRPr sz="1200">
                <a:solidFill>
                  <a:srgbClr val="243040"/>
                </a:solidFill>
                <a:latin typeface="Aptos"/>
              </a:defRPr>
            </a:pPr>
            <a:r>
              <a:t>•  Due_Date and Paid_Date still have missing values after date conversion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166360" cy="1828800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64008" cy="1828800"/>
          </a:xfrm>
          <a:prstGeom prst="rect">
            <a:avLst/>
          </a:prstGeom>
          <a:solidFill>
            <a:srgbClr val="285CA0"/>
          </a:solidFill>
          <a:ln>
            <a:solidFill>
              <a:srgbClr val="28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807" y="1563624"/>
            <a:ext cx="48006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3233F"/>
                </a:solidFill>
                <a:latin typeface="Aptos"/>
              </a:rPr>
              <a:t>REPOSITORY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1965960"/>
            <a:ext cx="4800600" cy="120700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43040"/>
                </a:solidFill>
                <a:latin typeface="Aptos"/>
              </a:defRPr>
            </a:pPr>
            <a:r>
              <a:t>•  python/sprint2.ipynb — profiling, cleansing and validation</a:t>
            </a:r>
          </a:p>
          <a:p>
            <a:pPr>
              <a:spcAft>
                <a:spcPts val="500"/>
              </a:spcAft>
              <a:defRPr sz="1200">
                <a:solidFill>
                  <a:srgbClr val="243040"/>
                </a:solidFill>
                <a:latin typeface="Aptos"/>
              </a:defRPr>
            </a:pPr>
            <a:r>
              <a:t>•  silver/Cleansing/ — cleaned dataset copies</a:t>
            </a:r>
          </a:p>
          <a:p>
            <a:pPr>
              <a:spcAft>
                <a:spcPts val="500"/>
              </a:spcAft>
              <a:defRPr sz="1200">
                <a:solidFill>
                  <a:srgbClr val="243040"/>
                </a:solidFill>
                <a:latin typeface="Aptos"/>
              </a:defRPr>
            </a:pPr>
            <a:r>
              <a:t>•  silver/Validation/ — profiling and quality report images</a:t>
            </a:r>
          </a:p>
          <a:p>
            <a:pPr>
              <a:spcAft>
                <a:spcPts val="500"/>
              </a:spcAft>
              <a:defRPr sz="1200">
                <a:solidFill>
                  <a:srgbClr val="243040"/>
                </a:solidFill>
                <a:latin typeface="Aptos"/>
              </a:defRPr>
            </a:pPr>
            <a:r>
              <a:t>•  tests/test_procurement.py — test script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749039"/>
            <a:ext cx="10515600" cy="914400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3977639"/>
            <a:ext cx="100584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3233F"/>
                </a:solidFill>
                <a:latin typeface="Aptos"/>
              </a:rPr>
              <a:t>Follow-up: define business rules for missing invoice dates, review optional contract handling and confirm automated tests in the target environment.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66360"/>
            <a:ext cx="103327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B8F8B"/>
                </a:solidFill>
                <a:latin typeface="Aptos"/>
              </a:rPr>
              <a:t>Sprint 2 conclusion: profiling, cleansing and validation create a documented baseline for downstream warehouse and analytics work.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9004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1841</Words>
  <Application>Microsoft Office PowerPoint</Application>
  <PresentationFormat>Custom</PresentationFormat>
  <Paragraphs>346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dc:description>generated using python-pptx</dc:description>
  <cp:lastModifiedBy>Admin</cp:lastModifiedBy>
  <cp:revision>5</cp:revision>
  <dcterms:created xsi:type="dcterms:W3CDTF">2013-01-27T09:14:16Z</dcterms:created>
  <dcterms:modified xsi:type="dcterms:W3CDTF">2026-10-10T06:59:36Z</dcterms:modified>
</cp:coreProperties>
</file>